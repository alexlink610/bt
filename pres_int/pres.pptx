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2" d="100"/>
          <a:sy n="132" d="100"/>
        </p:scale>
        <p:origin x="1416" y="8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9503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194514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AUSans Office"/>
              </a:defRPr>
            </a:lvl1pPr>
          </a:lstStyle>
          <a:p>
            <a:pPr>
              <a:defRPr/>
            </a:pPr>
            <a:fld id="{B8E529BC-C56D-6047-9DF5-B88BEDF77C96}" type="datetimeFigureOut">
              <a:rPr lang="en-GB"/>
              <a:t>03/02/2025</a:t>
            </a:fld>
            <a:endParaRPr lang="en-GB"/>
          </a:p>
        </p:txBody>
      </p:sp>
      <p:sp>
        <p:nvSpPr>
          <p:cNvPr id="18437414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98026475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4370528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067125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AUSans Office"/>
              </a:defRPr>
            </a:lvl1pPr>
          </a:lstStyle>
          <a:p>
            <a:pPr>
              <a:defRPr/>
            </a:pPr>
            <a:fld id="{1ABA3C07-B03A-1A47-9997-9139BE72657B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1pPr>
    <a:lvl2pPr marL="4572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2pPr>
    <a:lvl3pPr marL="9144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3pPr>
    <a:lvl4pPr marL="13716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4pPr>
    <a:lvl5pPr marL="18288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858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4993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	</a:t>
            </a:r>
            <a:endParaRPr/>
          </a:p>
        </p:txBody>
      </p:sp>
      <p:sp>
        <p:nvSpPr>
          <p:cNvPr id="117358775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ABA3C07-B03A-1A47-9997-9139BE72657B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50386D-EE67-5E53-D0B1-73425A4268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948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592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82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55180-03A7-11E5-AF51-305DC8CB11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251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779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9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925CD4-EE4B-9E88-5E09-92429EE9F8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A7C200-3922-EB4F-4220-D0A458308F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640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66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55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7F40C-6A5D-A854-8980-FE60BF0A9E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7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911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2162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8F49E-0E2E-A16B-4F07-44D8D24160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311150" name="Title 1"/>
          <p:cNvSpPr>
            <a:spLocks noGrp="1"/>
          </p:cNvSpPr>
          <p:nvPr>
            <p:ph type="ctrTitle"/>
          </p:nvPr>
        </p:nvSpPr>
        <p:spPr bwMode="auto">
          <a:xfrm>
            <a:off x="914400" y="1276363"/>
            <a:ext cx="10363200" cy="23876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60432520" name="Subtitle 2"/>
          <p:cNvSpPr>
            <a:spLocks noGrp="1"/>
          </p:cNvSpPr>
          <p:nvPr>
            <p:ph type="subTitle" idx="1"/>
          </p:nvPr>
        </p:nvSpPr>
        <p:spPr bwMode="auto">
          <a:xfrm>
            <a:off x="953104" y="3756038"/>
            <a:ext cx="103632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697444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401982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1320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345421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854108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368845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837935" name="Title 1"/>
          <p:cNvSpPr>
            <a:spLocks noGrp="1"/>
          </p:cNvSpPr>
          <p:nvPr>
            <p:ph type="title"/>
          </p:nvPr>
        </p:nvSpPr>
        <p:spPr bwMode="auto">
          <a:xfrm>
            <a:off x="831851" y="17097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2750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3601" y="4589467"/>
            <a:ext cx="1048385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5957422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46701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138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195526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90331" y="1665181"/>
            <a:ext cx="5529471" cy="4849921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3431840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1" y="1665181"/>
            <a:ext cx="5728251" cy="4849921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4058688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309816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781469" name="Title 1"/>
          <p:cNvSpPr>
            <a:spLocks noGrp="1"/>
          </p:cNvSpPr>
          <p:nvPr>
            <p:ph type="title"/>
          </p:nvPr>
        </p:nvSpPr>
        <p:spPr bwMode="auto">
          <a:xfrm>
            <a:off x="498766" y="668337"/>
            <a:ext cx="11408228" cy="1022352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953964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8766" y="1690689"/>
            <a:ext cx="5498812" cy="814386"/>
          </a:xfrm>
        </p:spPr>
        <p:txBody>
          <a:bodyPr anchor="b"/>
          <a:lstStyle>
            <a:lvl1pPr marL="0" indent="0">
              <a:buNone/>
              <a:defRPr sz="2400" b="1" i="0">
                <a:solidFill>
                  <a:srgbClr val="2F586E"/>
                </a:solidFill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5556704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98766" y="2505077"/>
            <a:ext cx="5498812" cy="4010025"/>
          </a:xfrm>
        </p:spPr>
        <p:txBody>
          <a:bodyPr/>
          <a:lstStyle>
            <a:lvl1pPr>
              <a:defRPr sz="2200"/>
            </a:lvl1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70872011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2" y="1690689"/>
            <a:ext cx="5521036" cy="814386"/>
          </a:xfrm>
        </p:spPr>
        <p:txBody>
          <a:bodyPr anchor="b"/>
          <a:lstStyle>
            <a:lvl1pPr marL="0" indent="0">
              <a:buNone/>
              <a:defRPr sz="2400" b="1" i="0">
                <a:solidFill>
                  <a:srgbClr val="2F586E"/>
                </a:solidFill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7751302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2" y="2505077"/>
            <a:ext cx="5521036" cy="4010025"/>
          </a:xfrm>
        </p:spPr>
        <p:txBody>
          <a:bodyPr/>
          <a:lstStyle>
            <a:lvl1pPr>
              <a:defRPr sz="2200"/>
            </a:lvl1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61997687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790867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057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670116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1976276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64137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492969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86645" name="Title 1"/>
          <p:cNvSpPr>
            <a:spLocks noGrp="1"/>
          </p:cNvSpPr>
          <p:nvPr>
            <p:ph type="title"/>
          </p:nvPr>
        </p:nvSpPr>
        <p:spPr bwMode="auto">
          <a:xfrm>
            <a:off x="498764" y="682833"/>
            <a:ext cx="4273261" cy="1374569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1183464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6"/>
            <a:ext cx="6172200" cy="55618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2688967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98764" y="2057400"/>
            <a:ext cx="4273261" cy="449184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8230596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98874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19775" name="Title 1"/>
          <p:cNvSpPr>
            <a:spLocks noGrp="1"/>
          </p:cNvSpPr>
          <p:nvPr>
            <p:ph type="title"/>
          </p:nvPr>
        </p:nvSpPr>
        <p:spPr bwMode="auto">
          <a:xfrm>
            <a:off x="498764" y="688771"/>
            <a:ext cx="4273261" cy="1368631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1852172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9"/>
            <a:ext cx="6172200" cy="554400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2604382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98764" y="2057400"/>
            <a:ext cx="4273261" cy="44740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361700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89842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7230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830284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9420525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05635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6194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0276115" y="944087"/>
            <a:ext cx="1527959" cy="5412264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065140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2" y="944087"/>
            <a:ext cx="9437913" cy="5404754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8615248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49329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656063" name="Title 1"/>
          <p:cNvSpPr>
            <a:spLocks noGrp="1"/>
          </p:cNvSpPr>
          <p:nvPr>
            <p:ph type="ctrTitle"/>
          </p:nvPr>
        </p:nvSpPr>
        <p:spPr bwMode="auto">
          <a:xfrm>
            <a:off x="914399" y="1265777"/>
            <a:ext cx="10363199" cy="239818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26603972" name="Subtitle 2"/>
          <p:cNvSpPr>
            <a:spLocks noGrp="1"/>
          </p:cNvSpPr>
          <p:nvPr>
            <p:ph type="subTitle" idx="1"/>
          </p:nvPr>
        </p:nvSpPr>
        <p:spPr bwMode="auto">
          <a:xfrm>
            <a:off x="953103" y="3756038"/>
            <a:ext cx="103631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8426917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772171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  <p:sp>
        <p:nvSpPr>
          <p:cNvPr id="1035153221" name="Rechteck 2"/>
          <p:cNvSpPr/>
          <p:nvPr userDrawn="1"/>
        </p:nvSpPr>
        <p:spPr bwMode="auto">
          <a:xfrm>
            <a:off x="490331" y="654098"/>
            <a:ext cx="11701671" cy="52129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de-DE" sz="1800" b="0" i="0">
              <a:latin typeface="FAUSans Offic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705951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501720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038793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756601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0936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94838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3657982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653318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873972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005330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4"/>
            <a:ext cx="5181600" cy="4646295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595464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600" cy="4646295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3396201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475176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150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360653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5864331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987800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4856593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0802435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987800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91599471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059803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701692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640380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35679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5226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6956442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2585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3682671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53717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9953903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4201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247407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582702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96652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5076278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542370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4887140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424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155404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575723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716595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319745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3984952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213892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87875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893445"/>
            <a:ext cx="2628900" cy="5537835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146842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893445"/>
            <a:ext cx="7734300" cy="5537835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789915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182633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media1.sv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png"/><Relationship Id="rId14" Type="http://schemas.openxmlformats.org/officeDocument/2006/relationships/image" Target="../media/image4.gif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412791" name="Title Placeholder 1"/>
          <p:cNvSpPr>
            <a:spLocks noGrp="1"/>
          </p:cNvSpPr>
          <p:nvPr>
            <p:ph type="title"/>
          </p:nvPr>
        </p:nvSpPr>
        <p:spPr bwMode="auto">
          <a:xfrm>
            <a:off x="490332" y="681037"/>
            <a:ext cx="11410121" cy="984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Click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edit</a:t>
            </a:r>
            <a:r>
              <a:rPr lang="de-DE"/>
              <a:t> Master title style</a:t>
            </a:r>
            <a:endParaRPr/>
          </a:p>
        </p:txBody>
      </p:sp>
      <p:sp>
        <p:nvSpPr>
          <p:cNvPr id="4861050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332" y="1665179"/>
            <a:ext cx="11410121" cy="485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Click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edit</a:t>
            </a:r>
            <a:r>
              <a:rPr lang="de-DE"/>
              <a:t> Master </a:t>
            </a:r>
            <a:r>
              <a:rPr lang="de-DE"/>
              <a:t>text</a:t>
            </a:r>
            <a:r>
              <a:rPr lang="de-DE"/>
              <a:t> </a:t>
            </a:r>
            <a:r>
              <a:rPr lang="de-DE"/>
              <a:t>styles</a:t>
            </a:r>
            <a:endParaRPr lang="de-DE"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endParaRPr lang="de-DE"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endParaRPr lang="de-DE"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endParaRPr lang="de-DE"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endParaRPr lang="de-DE"/>
          </a:p>
        </p:txBody>
      </p:sp>
      <p:sp>
        <p:nvSpPr>
          <p:cNvPr id="5900667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0" y="6626431"/>
            <a:ext cx="10751125" cy="193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10467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751128" y="6626431"/>
            <a:ext cx="1440873" cy="200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  <p:sp>
        <p:nvSpPr>
          <p:cNvPr id="1818956224" name="Rechteck 2"/>
          <p:cNvSpPr/>
          <p:nvPr userDrawn="1"/>
        </p:nvSpPr>
        <p:spPr bwMode="auto">
          <a:xfrm>
            <a:off x="490331" y="654098"/>
            <a:ext cx="11701671" cy="52129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de-DE" sz="1800">
              <a:latin typeface="FAUSans Office"/>
              <a:cs typeface="FAUSans Office"/>
            </a:endParaRPr>
          </a:p>
        </p:txBody>
      </p:sp>
      <p:pic>
        <p:nvPicPr>
          <p:cNvPr id="594043397" name="Grafik 16"/>
          <p:cNvPicPr>
            <a:picLocks noChangeAspect="1"/>
          </p:cNvPicPr>
          <p:nvPr userDrawn="1"/>
        </p:nvPicPr>
        <p:blipFill rotWithShape="1">
          <a:blip r:embed="rId13"/>
          <a:srcRect l="39727" t="0" r="0" b="0"/>
          <a:stretch/>
        </p:blipFill>
        <p:spPr bwMode="auto">
          <a:xfrm>
            <a:off x="1451645" y="105856"/>
            <a:ext cx="2416567" cy="777956"/>
          </a:xfrm>
          <a:prstGeom prst="rect">
            <a:avLst/>
          </a:prstGeom>
        </p:spPr>
      </p:pic>
      <p:pic>
        <p:nvPicPr>
          <p:cNvPr id="1070144677" name="Grafik 15"/>
          <p:cNvPicPr>
            <a:picLocks noChangeAspect="1"/>
          </p:cNvPicPr>
          <p:nvPr userDrawn="1"/>
        </p:nvPicPr>
        <p:blipFill rotWithShape="1">
          <a:blip r:embed="rId13"/>
          <a:srcRect l="0" t="0" r="60095" b="0"/>
          <a:stretch/>
        </p:blipFill>
        <p:spPr bwMode="auto">
          <a:xfrm>
            <a:off x="390315" y="77734"/>
            <a:ext cx="1088762" cy="529404"/>
          </a:xfrm>
          <a:prstGeom prst="rect">
            <a:avLst/>
          </a:prstGeom>
        </p:spPr>
      </p:pic>
      <p:pic>
        <p:nvPicPr>
          <p:cNvPr id="900011330" name="Picture 11"/>
          <p:cNvPicPr>
            <a:picLocks noChangeAspect="1"/>
          </p:cNvPicPr>
          <p:nvPr userDrawn="1"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 bwMode="auto">
          <a:xfrm>
            <a:off x="10969267" y="58487"/>
            <a:ext cx="1066800" cy="558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 b="1" i="0">
          <a:solidFill>
            <a:srgbClr val="2F586E"/>
          </a:solidFill>
          <a:latin typeface="Corbel"/>
          <a:ea typeface="+mj-ea"/>
          <a:cs typeface="FAUSans Office"/>
        </a:defRPr>
      </a:lvl1pPr>
    </p:titleStyle>
    <p:bodyStyle>
      <a:lvl1pPr marL="270000" indent="-270000" algn="l" defTabSz="914400" rtl="0">
        <a:lnSpc>
          <a:spcPct val="100000"/>
        </a:lnSpc>
        <a:spcBef>
          <a:spcPts val="1200"/>
        </a:spcBef>
        <a:buClr>
          <a:srgbClr val="2F586E"/>
        </a:buClr>
        <a:buFont typeface="System Font Regular"/>
        <a:buChar char="–"/>
        <a:defRPr sz="2400" b="0" i="0">
          <a:solidFill>
            <a:schemeClr val="tx1"/>
          </a:solidFill>
          <a:latin typeface="Corbel"/>
          <a:ea typeface="+mn-ea"/>
          <a:cs typeface="FAUSans Office"/>
        </a:defRPr>
      </a:lvl1pPr>
      <a:lvl2pPr marL="6858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2000" b="0" i="0">
          <a:solidFill>
            <a:schemeClr val="tx1"/>
          </a:solidFill>
          <a:latin typeface="Corbel"/>
          <a:ea typeface="+mn-ea"/>
          <a:cs typeface="FAUSans Office"/>
        </a:defRPr>
      </a:lvl2pPr>
      <a:lvl3pPr marL="11430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1800" b="0" i="0">
          <a:solidFill>
            <a:schemeClr val="tx1"/>
          </a:solidFill>
          <a:latin typeface="Corbel"/>
          <a:ea typeface="+mn-ea"/>
          <a:cs typeface="FAUSans Office"/>
        </a:defRPr>
      </a:lvl3pPr>
      <a:lvl4pPr marL="16002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1800" b="0" i="0">
          <a:solidFill>
            <a:schemeClr val="tx1"/>
          </a:solidFill>
          <a:latin typeface="Corbel"/>
          <a:ea typeface="+mn-ea"/>
          <a:cs typeface="FAUSans Office"/>
        </a:defRPr>
      </a:lvl4pPr>
      <a:lvl5pPr marL="20574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1800" b="0" i="0">
          <a:solidFill>
            <a:schemeClr val="tx1"/>
          </a:solidFill>
          <a:latin typeface="Corbel"/>
          <a:ea typeface="+mn-ea"/>
          <a:cs typeface="FAUSans Office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779FB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47883" name="Title Placeholder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918988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328" y="1665178"/>
            <a:ext cx="11410120" cy="4862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8389222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0" y="6626431"/>
            <a:ext cx="10751124" cy="2007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98575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751124" y="6626431"/>
            <a:ext cx="1440876" cy="193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  <p:sp>
        <p:nvSpPr>
          <p:cNvPr id="1299750929" name="Rechteck 2"/>
          <p:cNvSpPr/>
          <p:nvPr userDrawn="1"/>
        </p:nvSpPr>
        <p:spPr bwMode="auto">
          <a:xfrm>
            <a:off x="490331" y="654098"/>
            <a:ext cx="11701671" cy="52129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de-DE" sz="1800">
              <a:latin typeface="FAUSans Office"/>
              <a:cs typeface="FAUSans Office"/>
            </a:endParaRPr>
          </a:p>
        </p:txBody>
      </p:sp>
      <p:pic>
        <p:nvPicPr>
          <p:cNvPr id="828529942" name="Grafik 10"/>
          <p:cNvPicPr>
            <a:picLocks noChangeAspect="1"/>
          </p:cNvPicPr>
          <p:nvPr userDrawn="1"/>
        </p:nvPicPr>
        <p:blipFill rotWithShape="1">
          <a:blip r:embed="rId13"/>
          <a:stretch/>
        </p:blipFill>
        <p:spPr bwMode="auto">
          <a:xfrm>
            <a:off x="1460789" y="115000"/>
            <a:ext cx="2416567" cy="772817"/>
          </a:xfrm>
          <a:prstGeom prst="rect">
            <a:avLst/>
          </a:prstGeom>
        </p:spPr>
      </p:pic>
      <p:pic>
        <p:nvPicPr>
          <p:cNvPr id="100098417" name="Grafik 7"/>
          <p:cNvPicPr>
            <a:picLocks noChangeAspect="1"/>
          </p:cNvPicPr>
          <p:nvPr userDrawn="1"/>
        </p:nvPicPr>
        <p:blipFill rotWithShape="1">
          <a:blip r:embed="rId14"/>
          <a:stretch/>
        </p:blipFill>
        <p:spPr bwMode="auto">
          <a:xfrm>
            <a:off x="490328" y="165718"/>
            <a:ext cx="956868" cy="367677"/>
          </a:xfrm>
          <a:prstGeom prst="rect">
            <a:avLst/>
          </a:prstGeom>
        </p:spPr>
      </p:pic>
      <p:pic>
        <p:nvPicPr>
          <p:cNvPr id="280886010" name="Picture 11"/>
          <p:cNvPicPr>
            <a:picLocks noChangeAspect="1"/>
          </p:cNvPicPr>
          <p:nvPr userDrawn="1"/>
        </p:nvPicPr>
        <p:blipFill rotWithShape="1">
          <a:blip r:embed="rId15"/>
          <a:stretch/>
        </p:blipFill>
        <p:spPr bwMode="auto">
          <a:xfrm>
            <a:off x="10969267" y="60408"/>
            <a:ext cx="1066800" cy="558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 b="1" i="0">
          <a:solidFill>
            <a:schemeClr val="bg1"/>
          </a:solidFill>
          <a:latin typeface="Corbel"/>
          <a:ea typeface="+mj-ea"/>
          <a:cs typeface="FAUSans Office"/>
        </a:defRPr>
      </a:lvl1pPr>
    </p:titleStyle>
    <p:bodyStyle>
      <a:lvl1pPr marL="228600" indent="-270000" algn="l" defTabSz="914400" rtl="0">
        <a:lnSpc>
          <a:spcPct val="100000"/>
        </a:lnSpc>
        <a:spcBef>
          <a:spcPts val="1200"/>
        </a:spcBef>
        <a:buClr>
          <a:srgbClr val="FFFFFF"/>
        </a:buClr>
        <a:buFont typeface="System Font Regular"/>
        <a:buChar char="–"/>
        <a:defRPr sz="2400" b="0" i="0">
          <a:solidFill>
            <a:schemeClr val="bg1"/>
          </a:solidFill>
          <a:latin typeface="Corbel"/>
          <a:ea typeface="+mn-ea"/>
          <a:cs typeface="FAUSans Office"/>
        </a:defRPr>
      </a:lvl1pPr>
      <a:lvl2pPr marL="6858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2000" b="0" i="0">
          <a:solidFill>
            <a:schemeClr val="bg1"/>
          </a:solidFill>
          <a:latin typeface="Corbel"/>
          <a:ea typeface="+mn-ea"/>
          <a:cs typeface="FAUSans Office"/>
        </a:defRPr>
      </a:lvl2pPr>
      <a:lvl3pPr marL="11430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1800" b="0" i="0">
          <a:solidFill>
            <a:schemeClr val="bg1"/>
          </a:solidFill>
          <a:latin typeface="Corbel"/>
          <a:ea typeface="+mn-ea"/>
          <a:cs typeface="FAUSans Office"/>
        </a:defRPr>
      </a:lvl3pPr>
      <a:lvl4pPr marL="16002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1600" b="0" i="0">
          <a:solidFill>
            <a:schemeClr val="bg1"/>
          </a:solidFill>
          <a:latin typeface="Corbel"/>
          <a:ea typeface="+mn-ea"/>
          <a:cs typeface="FAUSans Office"/>
        </a:defRPr>
      </a:lvl4pPr>
      <a:lvl5pPr marL="20574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1600" b="0" i="0">
          <a:solidFill>
            <a:schemeClr val="bg1"/>
          </a:solidFill>
          <a:latin typeface="Corbel"/>
          <a:ea typeface="+mn-ea"/>
          <a:cs typeface="FAUSans Office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media2.svg"/><Relationship Id="rId5" Type="http://schemas.openxmlformats.org/officeDocument/2006/relationships/image" Target="../media/image6.png"/><Relationship Id="rId6" Type="http://schemas.openxmlformats.org/officeDocument/2006/relationships/image" Target="../media/media3.svg"/><Relationship Id="rId7" Type="http://schemas.openxmlformats.org/officeDocument/2006/relationships/image" Target="../media/image7.png"/><Relationship Id="rId8" Type="http://schemas.openxmlformats.org/officeDocument/2006/relationships/image" Target="../media/media4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61054" name="Digital Reality: Visual Computing Interacting With The Real World"/>
          <p:cNvSpPr txBox="1">
            <a:spLocks noGrp="1"/>
          </p:cNvSpPr>
          <p:nvPr>
            <p:ph type="ctrTitle"/>
          </p:nvPr>
        </p:nvSpPr>
        <p:spPr bwMode="auto">
          <a:xfrm>
            <a:off x="914399" y="402177"/>
            <a:ext cx="10363199" cy="239818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/>
              <a:t>Counting Fruits with State-of-the-Art Multi-View-Stereo Approaches</a:t>
            </a:r>
            <a:endParaRPr/>
          </a:p>
        </p:txBody>
      </p:sp>
      <p:sp>
        <p:nvSpPr>
          <p:cNvPr id="1675628907" name="Tim Weyrich…"/>
          <p:cNvSpPr txBox="1">
            <a:spLocks noGrp="1"/>
          </p:cNvSpPr>
          <p:nvPr>
            <p:ph type="subTitle" idx="1"/>
          </p:nvPr>
        </p:nvSpPr>
        <p:spPr bwMode="auto">
          <a:xfrm>
            <a:off x="953103" y="2892438"/>
            <a:ext cx="10363199" cy="165576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de-DE"/>
              <a:t>Alexander Link</a:t>
            </a:r>
            <a:endParaRPr lang="en-GB"/>
          </a:p>
          <a:p>
            <a:pPr>
              <a:defRPr/>
            </a:pPr>
            <a:r>
              <a:rPr lang="de-DE" sz="2000"/>
              <a:t>BSc Interim</a:t>
            </a:r>
            <a:r>
              <a:rPr lang="en-US" sz="2000"/>
              <a:t> Presentation</a:t>
            </a:r>
            <a:endParaRPr/>
          </a:p>
          <a:p>
            <a:pPr>
              <a:defRPr/>
            </a:pPr>
            <a:br>
              <a:rPr lang="en-US" sz="2000"/>
            </a:br>
            <a:r>
              <a:rPr lang="en-GB" sz="2000"/>
              <a:t>Supervisors:</a:t>
            </a:r>
            <a:r>
              <a:rPr lang="de-DE" sz="2000"/>
              <a:t> </a:t>
            </a:r>
            <a:r>
              <a:rPr lang="de-DE" sz="2000" b="0" i="0" u="none" strike="noStrike" cap="none" spc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Prof. Dr. Bernhard Egger</a:t>
            </a:r>
            <a:r>
              <a:rPr lang="de-DE" sz="2000"/>
              <a:t>, Lukas Meyer M.Sc. </a:t>
            </a:r>
            <a:endParaRPr/>
          </a:p>
        </p:txBody>
      </p:sp>
      <p:sp>
        <p:nvSpPr>
          <p:cNvPr id="1398705688" name="Friedrich-Alexander-Universität Erlangen, 3 Februar 2020"/>
          <p:cNvSpPr txBox="1"/>
          <p:nvPr/>
        </p:nvSpPr>
        <p:spPr bwMode="auto">
          <a:xfrm>
            <a:off x="1023260" y="4276140"/>
            <a:ext cx="10104085" cy="792360"/>
          </a:xfrm>
          <a:prstGeom prst="rect">
            <a:avLst/>
          </a:prstGeom>
        </p:spPr>
        <p:txBody>
          <a:bodyPr lIns="35719" tIns="35719" rIns="35719" bIns="35719" anchor="b"/>
          <a:lstStyle/>
          <a:p>
            <a:pPr>
              <a:defRPr sz="2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</a:defRPr>
            </a:pPr>
            <a:r>
              <a:rPr lang="en-US" sz="2000">
                <a:latin typeface="Corbel"/>
                <a:cs typeface="FAUSans Office"/>
              </a:rPr>
              <a:t>Erlangen, </a:t>
            </a:r>
            <a:r>
              <a:rPr lang="de-DE" sz="2000">
                <a:latin typeface="Corbel"/>
                <a:cs typeface="FAUSans Office"/>
              </a:rPr>
              <a:t>31</a:t>
            </a:r>
            <a:r>
              <a:rPr lang="en-US" sz="2000">
                <a:latin typeface="Corbel"/>
                <a:cs typeface="FAUSans Office"/>
              </a:rPr>
              <a:t> </a:t>
            </a:r>
            <a:r>
              <a:rPr lang="de-DE" sz="2000">
                <a:latin typeface="Corbel"/>
                <a:cs typeface="FAUSans Office"/>
              </a:rPr>
              <a:t>Jul</a:t>
            </a:r>
            <a:r>
              <a:rPr lang="en-US" sz="2000">
                <a:latin typeface="Corbel"/>
                <a:cs typeface="FAUSans Office"/>
              </a:rPr>
              <a:t> 20</a:t>
            </a:r>
            <a:r>
              <a:rPr lang="de-DE" sz="2000">
                <a:latin typeface="Corbel"/>
                <a:cs typeface="FAUSans Office"/>
              </a:rPr>
              <a:t>26</a:t>
            </a:r>
            <a:endParaRPr sz="2000">
              <a:latin typeface="Corbel"/>
              <a:cs typeface="FAUSans Office"/>
            </a:endParaRPr>
          </a:p>
        </p:txBody>
      </p:sp>
      <p:pic>
        <p:nvPicPr>
          <p:cNvPr id="1806826239" name="Picture 1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190007" y="5987856"/>
            <a:ext cx="1809512" cy="547415"/>
          </a:xfrm>
          <a:prstGeom prst="rect">
            <a:avLst/>
          </a:prstGeom>
        </p:spPr>
      </p:pic>
      <p:pic>
        <p:nvPicPr>
          <p:cNvPr id="118168976" name="Picture 3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9402458" y="5635871"/>
            <a:ext cx="2474419" cy="913848"/>
          </a:xfrm>
          <a:prstGeom prst="rect">
            <a:avLst/>
          </a:prstGeom>
        </p:spPr>
      </p:pic>
      <p:pic>
        <p:nvPicPr>
          <p:cNvPr id="1064520939" name="Picture 7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914399" y="5720151"/>
            <a:ext cx="2575387" cy="913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4557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Motivation</a:t>
            </a:r>
            <a:endParaRPr/>
          </a:p>
        </p:txBody>
      </p:sp>
      <p:sp>
        <p:nvSpPr>
          <p:cNvPr id="2033007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Why count fruit automatically?</a:t>
            </a:r>
            <a:endParaRPr/>
          </a:p>
          <a:p>
            <a:pPr lvl="1">
              <a:defRPr/>
            </a:pPr>
            <a:r>
              <a:rPr lang="de-DE"/>
              <a:t>Yield estimation, labor planning, storage, and pricing in agriculture</a:t>
            </a:r>
            <a:endParaRPr lang="de-DE"/>
          </a:p>
          <a:p>
            <a:pPr lvl="1">
              <a:defRPr/>
            </a:pPr>
            <a:r>
              <a:rPr lang="de-DE"/>
              <a:t>Manual counting is slow and expensive</a:t>
            </a:r>
            <a:endParaRPr/>
          </a:p>
          <a:p>
            <a:pPr lvl="1">
              <a:defRPr/>
            </a:pPr>
            <a:r>
              <a:rPr lang="de-DE"/>
              <a:t>Goal: count fruit per tree from </a:t>
            </a:r>
            <a:r>
              <a:rPr lang="de-DE" sz="2000" b="1" i="0" u="none" strike="noStrike" cap="none" spc="0">
                <a:solidFill>
                  <a:srgbClr val="2F586E"/>
                </a:solidFill>
                <a:latin typeface="Corbel"/>
                <a:ea typeface="+mn-ea"/>
                <a:cs typeface="FAUSans Office"/>
              </a:rPr>
              <a:t>ordinary </a:t>
            </a:r>
            <a:r>
              <a:rPr lang="de-DE"/>
              <a:t>2D RGB images </a:t>
            </a:r>
            <a:endParaRPr lang="de-DE"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08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Motivation</a:t>
            </a:r>
            <a:endParaRPr/>
          </a:p>
        </p:txBody>
      </p:sp>
      <p:sp>
        <p:nvSpPr>
          <p:cNvPr id="16478256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Basic Idea: detect and count fruit instances across images</a:t>
            </a:r>
            <a:endParaRPr lang="de-DE"/>
          </a:p>
          <a:p>
            <a:pPr>
              <a:defRPr/>
            </a:pPr>
            <a:r>
              <a:rPr lang="de-DE"/>
              <a:t>Problems:</a:t>
            </a:r>
            <a:endParaRPr lang="de-DE"/>
          </a:p>
          <a:p>
            <a:pPr lvl="1">
              <a:defRPr/>
            </a:pPr>
            <a:r>
              <a:rPr lang="de-DE"/>
              <a:t>Double counting</a:t>
            </a:r>
            <a:endParaRPr lang="de-DE"/>
          </a:p>
          <a:p>
            <a:pPr lvl="1">
              <a:defRPr/>
            </a:pPr>
            <a:r>
              <a:rPr lang="de-DE"/>
              <a:t>Missing fruit</a:t>
            </a:r>
            <a:endParaRPr lang="de-DE"/>
          </a:p>
          <a:p>
            <a:pPr lvl="0">
              <a:defRPr/>
            </a:pPr>
            <a:r>
              <a:rPr lang="de-DE"/>
              <a:t>Need to associate 2D detections in shared 3D frame</a:t>
            </a:r>
            <a:endParaRPr lang="de-DE"/>
          </a:p>
          <a:p>
            <a:pPr lvl="0">
              <a:defRPr/>
            </a:pPr>
            <a:endParaRPr lang="de-DE"/>
          </a:p>
          <a:p>
            <a:pPr marL="455400" lvl="1" indent="0">
              <a:buClr>
                <a:srgbClr val="2F586E"/>
              </a:buClr>
              <a:buFont typeface="System Font Regular"/>
              <a:buNone/>
              <a:defRPr/>
            </a:pPr>
            <a:endParaRPr lang="de-DE"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9839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Motivation</a:t>
            </a:r>
            <a:endParaRPr/>
          </a:p>
        </p:txBody>
      </p:sp>
      <p:sp>
        <p:nvSpPr>
          <p:cNvPr id="17798166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Previous Work: FruitNeRF</a:t>
            </a:r>
            <a:endParaRPr lang="de-DE"/>
          </a:p>
          <a:p>
            <a:pPr lvl="1">
              <a:defRPr/>
            </a:pPr>
            <a:r>
              <a:rPr lang="de-DE"/>
              <a:t>Pipeline:</a:t>
            </a:r>
            <a:endParaRPr/>
          </a:p>
          <a:p>
            <a:pPr lvl="1">
              <a:defRPr/>
            </a:pPr>
            <a:r>
              <a:rPr lang="de-DE"/>
              <a:t>Yield estimation, labor planning, storage, and pricing in agriculture</a:t>
            </a:r>
            <a:endParaRPr lang="de-DE"/>
          </a:p>
          <a:p>
            <a:pPr lvl="1">
              <a:defRPr/>
            </a:pPr>
            <a:r>
              <a:rPr lang="de-DE"/>
              <a:t>Manual counting is slow and expensive</a:t>
            </a:r>
            <a:endParaRPr/>
          </a:p>
          <a:p>
            <a:pPr lvl="1">
              <a:defRPr/>
            </a:pPr>
            <a:r>
              <a:rPr lang="de-DE"/>
              <a:t>Goal: count fruit per tree from </a:t>
            </a:r>
            <a:r>
              <a:rPr lang="de-DE" sz="2000" b="1" i="0" u="none" strike="noStrike" cap="none" spc="0">
                <a:solidFill>
                  <a:srgbClr val="2F586E"/>
                </a:solidFill>
                <a:latin typeface="Corbel"/>
                <a:ea typeface="Arial"/>
                <a:cs typeface="FAUSans Office"/>
              </a:rPr>
              <a:t>ordinary </a:t>
            </a:r>
            <a:r>
              <a:rPr lang="de-DE"/>
              <a:t>2D RGB images </a:t>
            </a:r>
            <a:endParaRPr lang="de-DE"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587666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Section</a:t>
            </a:r>
            <a:r>
              <a:rPr lang="de-DE"/>
              <a:t> title</a:t>
            </a:r>
            <a:endParaRPr lang="en-US"/>
          </a:p>
        </p:txBody>
      </p:sp>
      <p:sp>
        <p:nvSpPr>
          <p:cNvPr id="896382450" name="Text Placeholder 1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3030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Beautiful slide</a:t>
            </a:r>
            <a:endParaRPr/>
          </a:p>
        </p:txBody>
      </p:sp>
      <p:sp>
        <p:nvSpPr>
          <p:cNvPr id="1163110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With bullets</a:t>
            </a:r>
            <a:endParaRPr/>
          </a:p>
          <a:p>
            <a:pPr lvl="1">
              <a:defRPr/>
            </a:pPr>
            <a:r>
              <a:rPr lang="en-GB"/>
              <a:t>and sub-bullets</a:t>
            </a:r>
            <a:endParaRPr/>
          </a:p>
          <a:p>
            <a:pPr lvl="1">
              <a:defRPr/>
            </a:pPr>
            <a:r>
              <a:rPr lang="en-GB"/>
              <a:t>while staying clear of overly wordy bullets that excessively strain the audience’s attention that desperately tries to simultaneously follow the narrative offered by the presenter</a:t>
            </a:r>
            <a:endParaRPr/>
          </a:p>
          <a:p>
            <a:pPr>
              <a:defRPr/>
            </a:pPr>
            <a:r>
              <a:rPr lang="en-GB"/>
              <a:t>Occasionally you might want to add </a:t>
            </a:r>
            <a:r>
              <a:rPr lang="en-GB" b="1">
                <a:solidFill>
                  <a:srgbClr val="2F586E"/>
                </a:solidFill>
              </a:rPr>
              <a:t>emphasis</a:t>
            </a:r>
            <a:r>
              <a:rPr lang="en-GB"/>
              <a:t> to your writing</a:t>
            </a:r>
            <a:endParaRPr/>
          </a:p>
          <a:p>
            <a:pPr>
              <a:defRPr/>
            </a:pPr>
            <a:endParaRPr lang="en-GB"/>
          </a:p>
          <a:p>
            <a:pPr>
              <a:defRPr/>
            </a:pPr>
            <a:r>
              <a:rPr lang="en-GB"/>
              <a:t>Do not forget to add / remove logos from the title slide as appropriate</a:t>
            </a:r>
            <a:endParaRPr/>
          </a:p>
          <a:p>
            <a:pPr lvl="1">
              <a:defRPr/>
            </a:pPr>
            <a:r>
              <a:rPr lang="en-GB"/>
              <a:t>logo “LGDV”: </a:t>
            </a:r>
            <a:r>
              <a:rPr lang="en-GB"/>
              <a:t>Lehrstuhl</a:t>
            </a:r>
            <a:r>
              <a:rPr lang="en-GB"/>
              <a:t> Prof. </a:t>
            </a:r>
            <a:r>
              <a:rPr lang="en-GB"/>
              <a:t>Stamminger</a:t>
            </a:r>
            <a:endParaRPr lang="en-GB"/>
          </a:p>
          <a:p>
            <a:pPr lvl="1">
              <a:defRPr/>
            </a:pPr>
            <a:r>
              <a:rPr lang="en-GB"/>
              <a:t>logo “DR”: </a:t>
            </a:r>
            <a:r>
              <a:rPr lang="en-GB"/>
              <a:t>Lehrstuhl</a:t>
            </a:r>
            <a:r>
              <a:rPr lang="en-GB"/>
              <a:t> Prof. Weyrich</a:t>
            </a:r>
            <a:endParaRPr/>
          </a:p>
          <a:p>
            <a:pPr lvl="1">
              <a:defRPr/>
            </a:pPr>
            <a:r>
              <a:rPr lang="en-GB"/>
              <a:t>additional logos potentially to be provided: Profs. Egger and Günther</a:t>
            </a:r>
            <a:endParaRPr/>
          </a:p>
          <a:p>
            <a:pPr lvl="1">
              <a:defRPr/>
            </a:pPr>
            <a:r>
              <a:rPr lang="en-GB"/>
              <a:t>logo “</a:t>
            </a:r>
            <a:r>
              <a:rPr lang="en-GB"/>
              <a:t>vce</a:t>
            </a:r>
            <a:r>
              <a:rPr lang="en-GB"/>
              <a:t>” applies to all of the above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900075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Section</a:t>
            </a:r>
            <a:r>
              <a:rPr lang="de-DE"/>
              <a:t> title</a:t>
            </a:r>
            <a:endParaRPr lang="en-US"/>
          </a:p>
        </p:txBody>
      </p:sp>
      <p:sp>
        <p:nvSpPr>
          <p:cNvPr id="576363165" name="Text Placeholder 1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{99E9A84D-BC8F-BA4F-8320-151250D21FD1}tf10001120</Template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Weyrich, Tim</dc:creator>
  <cp:lastModifiedBy/>
  <cp:revision>484</cp:revision>
  <dcterms:created xsi:type="dcterms:W3CDTF">2021-10-28T08:28:15Z</dcterms:created>
  <dcterms:modified xsi:type="dcterms:W3CDTF">2026-07-29T10:38:40Z</dcterms:modified>
</cp:coreProperties>
</file>
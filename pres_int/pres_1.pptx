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22.xml" ContentType="application/vnd.openxmlformats-officedocument.presentationml.slideLayout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  <p:sldMasterId id="2147483660" r:id="rId2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2" d="100"/>
          <a:sy n="132" d="100"/>
        </p:scale>
        <p:origin x="1416" y="84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 /><Relationship Id="rId25" Type="http://schemas.openxmlformats.org/officeDocument/2006/relationships/tableStyles" Target="tableStyles.xml" /><Relationship Id="rId26" Type="http://schemas.openxmlformats.org/officeDocument/2006/relationships/viewProps" Target="viewProps.xml" /></Relationships>
</file>

<file path=ppt/handoutMasters/_rels/handoutMaster1.xml.rels><?xml version="1.0" encoding="UTF-8" standalone="yes"?>								<Relationships xmlns="http://schemas.openxmlformats.org/package/2006/relationships">								<Relationship Id="rId1" Type="http://schemas.openxmlformats.org/officeDocument/2006/relationships/theme" Target="../theme/theme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70449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0262616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FAUSans Office"/>
              </a:defRPr>
            </a:lvl1pPr>
          </a:lstStyle>
          <a:p>
            <a:pPr>
              <a:defRPr/>
            </a:pPr>
            <a:fld id="{B8E529BC-C56D-6047-9DF5-B88BEDF77C96}" type="datetimeFigureOut">
              <a:rPr lang="en-GB"/>
              <a:t>03/02/2025</a:t>
            </a:fld>
            <a:endParaRPr lang="en-GB"/>
          </a:p>
        </p:txBody>
      </p:sp>
      <p:sp>
        <p:nvSpPr>
          <p:cNvPr id="1654127569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GB"/>
          </a:p>
        </p:txBody>
      </p:sp>
      <p:sp>
        <p:nvSpPr>
          <p:cNvPr id="73797121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/>
          </a:p>
        </p:txBody>
      </p:sp>
      <p:sp>
        <p:nvSpPr>
          <p:cNvPr id="7925909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43939402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FAUSans Office"/>
              </a:defRPr>
            </a:lvl1pPr>
          </a:lstStyle>
          <a:p>
            <a:pPr>
              <a:defRPr/>
            </a:pPr>
            <a:fld id="{1ABA3C07-B03A-1A47-9997-9139BE72657B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1pPr>
    <a:lvl2pPr marL="4572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2pPr>
    <a:lvl3pPr marL="9144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3pPr>
    <a:lvl4pPr marL="13716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4pPr>
    <a:lvl5pPr marL="1828800" algn="l" defTabSz="914400" rtl="0">
      <a:defRPr sz="1200" b="0" i="0">
        <a:solidFill>
          <a:schemeClr val="tx1"/>
        </a:solidFill>
        <a:latin typeface="FAUSans Office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033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4910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	</a:t>
            </a:r>
            <a:endParaRPr/>
          </a:p>
        </p:txBody>
      </p:sp>
      <p:sp>
        <p:nvSpPr>
          <p:cNvPr id="1473307332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1ABA3C07-B03A-1A47-9997-9139BE72657B}" type="slidenum">
              <a:rPr lang="en-GB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704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013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925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50386D-EE67-5E53-D0B1-73425A42682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05292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9268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66018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925CD4-EE4B-9E88-5E09-92429EE9F8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3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492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92518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55180-03A7-11E5-AF51-305DC8CB11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3709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91010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27605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7952F6-D0A5-FBD8-269F-4BC44CE5FE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592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905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6479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A7C200-3922-EB4F-4220-D0A458308F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2485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20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2471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97F40C-6A5D-A854-8980-FE60BF0A9E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397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7060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71242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6D5FC3-1AE6-9D21-A9B5-42EC494D3D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15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49208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02365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81D7BE-0E98-D58A-AF59-5CFAF87288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08717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704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55240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D47710-2DE5-72CE-DE9A-18ACF5CBC3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4085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62594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3265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6FBC9-75CB-B652-ED1A-8FB49D5CF23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4295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1472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3633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B8F49E-0E2E-A16B-4F07-44D8D24160F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415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5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4779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412053-009D-1760-3B87-B55F006591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18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62260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8936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15FBC6-0B95-B4CE-B521-A3ED8EFF3E1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054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8417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7015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F92DC3E-3B54-9F1B-5C93-0E1165D35E7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83818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5615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954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35039C-A488-99C2-DDBE-4D7A38C8A5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492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2682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95252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2BC260-5B96-FFB1-A574-E78202A7B2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75555" name="Title 1"/>
          <p:cNvSpPr>
            <a:spLocks noGrp="1"/>
          </p:cNvSpPr>
          <p:nvPr>
            <p:ph type="ctrTitle"/>
          </p:nvPr>
        </p:nvSpPr>
        <p:spPr bwMode="auto">
          <a:xfrm>
            <a:off x="914400" y="1276363"/>
            <a:ext cx="10363200" cy="2387600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92471067" name="Subtitle 2"/>
          <p:cNvSpPr>
            <a:spLocks noGrp="1"/>
          </p:cNvSpPr>
          <p:nvPr>
            <p:ph type="subTitle" idx="1"/>
          </p:nvPr>
        </p:nvSpPr>
        <p:spPr bwMode="auto">
          <a:xfrm>
            <a:off x="953104" y="3756038"/>
            <a:ext cx="103632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1395306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600951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038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4724988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35057669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3891023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433304" name="Title 1"/>
          <p:cNvSpPr>
            <a:spLocks noGrp="1"/>
          </p:cNvSpPr>
          <p:nvPr>
            <p:ph type="title"/>
          </p:nvPr>
        </p:nvSpPr>
        <p:spPr bwMode="auto">
          <a:xfrm>
            <a:off x="831851" y="17097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555720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63601" y="4589467"/>
            <a:ext cx="1048385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9754304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859682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16460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8705389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90331" y="1665181"/>
            <a:ext cx="5529471" cy="4849921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08462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1" y="1665181"/>
            <a:ext cx="5728251" cy="4849921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8268259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3498376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571238" name="Title 1"/>
          <p:cNvSpPr>
            <a:spLocks noGrp="1"/>
          </p:cNvSpPr>
          <p:nvPr>
            <p:ph type="title"/>
          </p:nvPr>
        </p:nvSpPr>
        <p:spPr bwMode="auto">
          <a:xfrm>
            <a:off x="498766" y="668337"/>
            <a:ext cx="11408228" cy="1022352"/>
          </a:xfr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9930403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8766" y="1690689"/>
            <a:ext cx="5498812" cy="814386"/>
          </a:xfrm>
        </p:spPr>
        <p:txBody>
          <a:bodyPr anchor="b"/>
          <a:lstStyle>
            <a:lvl1pPr marL="0" indent="0">
              <a:buNone/>
              <a:defRPr sz="2400" b="1" i="0">
                <a:solidFill>
                  <a:srgbClr val="2F586E"/>
                </a:solidFill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3002448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98766" y="2505077"/>
            <a:ext cx="5498812" cy="4010025"/>
          </a:xfrm>
        </p:spPr>
        <p:txBody>
          <a:bodyPr/>
          <a:lstStyle>
            <a:lvl1pPr>
              <a:defRPr sz="2200"/>
            </a:lvl1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72369032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2" y="1690689"/>
            <a:ext cx="5521036" cy="814386"/>
          </a:xfrm>
        </p:spPr>
        <p:txBody>
          <a:bodyPr anchor="b"/>
          <a:lstStyle>
            <a:lvl1pPr marL="0" indent="0">
              <a:buNone/>
              <a:defRPr sz="2400" b="1" i="0">
                <a:solidFill>
                  <a:srgbClr val="2F586E"/>
                </a:solidFill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5627591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2" y="2505077"/>
            <a:ext cx="5521036" cy="4010025"/>
          </a:xfrm>
        </p:spPr>
        <p:txBody>
          <a:bodyPr/>
          <a:lstStyle>
            <a:lvl1pPr>
              <a:defRPr sz="2200"/>
            </a:lvl1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0166554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80138772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9071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44059635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461970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4443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4369888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272841" name="Title 1"/>
          <p:cNvSpPr>
            <a:spLocks noGrp="1"/>
          </p:cNvSpPr>
          <p:nvPr>
            <p:ph type="title"/>
          </p:nvPr>
        </p:nvSpPr>
        <p:spPr bwMode="auto">
          <a:xfrm>
            <a:off x="498764" y="682833"/>
            <a:ext cx="4273261" cy="1374569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2622233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6"/>
            <a:ext cx="6172200" cy="55618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69380512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98764" y="2057400"/>
            <a:ext cx="4273261" cy="449184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77766703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0681669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545469" name="Title 1"/>
          <p:cNvSpPr>
            <a:spLocks noGrp="1"/>
          </p:cNvSpPr>
          <p:nvPr>
            <p:ph type="title"/>
          </p:nvPr>
        </p:nvSpPr>
        <p:spPr bwMode="auto">
          <a:xfrm>
            <a:off x="498764" y="688771"/>
            <a:ext cx="4273261" cy="1368631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2988537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9"/>
            <a:ext cx="6172200" cy="554400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1328956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98764" y="2057400"/>
            <a:ext cx="4273261" cy="447403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6009721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94338690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5713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000315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200469205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48751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22909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10276115" y="944087"/>
            <a:ext cx="1527959" cy="5412264"/>
          </a:xfr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96003764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2" y="944087"/>
            <a:ext cx="9437913" cy="5404754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993152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122032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189898" name="Title 1"/>
          <p:cNvSpPr>
            <a:spLocks noGrp="1"/>
          </p:cNvSpPr>
          <p:nvPr>
            <p:ph type="ctrTitle"/>
          </p:nvPr>
        </p:nvSpPr>
        <p:spPr bwMode="auto">
          <a:xfrm>
            <a:off x="914399" y="1265777"/>
            <a:ext cx="10363199" cy="2398186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34128739" name="Subtitle 2"/>
          <p:cNvSpPr>
            <a:spLocks noGrp="1"/>
          </p:cNvSpPr>
          <p:nvPr>
            <p:ph type="subTitle" idx="1"/>
          </p:nvPr>
        </p:nvSpPr>
        <p:spPr bwMode="auto">
          <a:xfrm>
            <a:off x="953103" y="3756038"/>
            <a:ext cx="10363199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11644401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627435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279888194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 b="0" i="0">
              <a:latin typeface="FAUSans Offic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2600866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4153252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10451231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6985862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563863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970280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47294177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8750996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518351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1228758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4"/>
            <a:ext cx="5181600" cy="4646295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74532765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4"/>
            <a:ext cx="5181600" cy="4646295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5161393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14868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14940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816225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85025524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9878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37002304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 i="0">
                <a:latin typeface="Corbe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860107098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987800"/>
          </a:xfrm>
        </p:spPr>
        <p:txBody>
          <a:bodyPr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4509912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3668667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093735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2546668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515890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76771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2296441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97762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06251723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53717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5726442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42011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01439545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237270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93116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5626759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542370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6765091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42418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GB"/>
              <a:t>Click to edit Master text styles</a:t>
            </a:r>
            <a:endParaRPr/>
          </a:p>
        </p:txBody>
      </p:sp>
      <p:sp>
        <p:nvSpPr>
          <p:cNvPr id="17058208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40614788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5635221" name="Title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7778466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4841371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165897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0974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893445"/>
            <a:ext cx="2628900" cy="5537835"/>
          </a:xfrm>
          <a:prstGeom prst="rect">
            <a:avLst/>
          </a:prstGeom>
        </p:spPr>
        <p:txBody>
          <a:bodyPr vert="eaVert"/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8775104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893445"/>
            <a:ext cx="7734300" cy="5537835"/>
          </a:xfrm>
        </p:spPr>
        <p:txBody>
          <a:bodyPr vert="eaVert"/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6808783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4725181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media1.svg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3.png"/><Relationship Id="rId14" Type="http://schemas.openxmlformats.org/officeDocument/2006/relationships/image" Target="../media/image4.gif"/><Relationship Id="rId15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1164363" name="Title Placeholder 1"/>
          <p:cNvSpPr>
            <a:spLocks noGrp="1"/>
          </p:cNvSpPr>
          <p:nvPr>
            <p:ph type="title"/>
          </p:nvPr>
        </p:nvSpPr>
        <p:spPr bwMode="auto">
          <a:xfrm>
            <a:off x="490332" y="681037"/>
            <a:ext cx="11410121" cy="984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de-DE"/>
              <a:t>Click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edit</a:t>
            </a:r>
            <a:r>
              <a:rPr lang="de-DE"/>
              <a:t> Master title style</a:t>
            </a:r>
            <a:endParaRPr/>
          </a:p>
        </p:txBody>
      </p:sp>
      <p:sp>
        <p:nvSpPr>
          <p:cNvPr id="16510711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332" y="1665179"/>
            <a:ext cx="11410121" cy="4854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de-DE"/>
              <a:t>Click </a:t>
            </a:r>
            <a:r>
              <a:rPr lang="de-DE"/>
              <a:t>to</a:t>
            </a:r>
            <a:r>
              <a:rPr lang="de-DE"/>
              <a:t> </a:t>
            </a:r>
            <a:r>
              <a:rPr lang="de-DE"/>
              <a:t>edit</a:t>
            </a:r>
            <a:r>
              <a:rPr lang="de-DE"/>
              <a:t> Master </a:t>
            </a:r>
            <a:r>
              <a:rPr lang="de-DE"/>
              <a:t>text</a:t>
            </a:r>
            <a:r>
              <a:rPr lang="de-DE"/>
              <a:t> </a:t>
            </a:r>
            <a:r>
              <a:rPr lang="de-DE"/>
              <a:t>styles</a:t>
            </a:r>
            <a:endParaRPr lang="de-DE"/>
          </a:p>
          <a:p>
            <a:pPr lvl="1">
              <a:defRPr/>
            </a:pPr>
            <a:r>
              <a:rPr lang="de-DE"/>
              <a:t>Second </a:t>
            </a:r>
            <a:r>
              <a:rPr lang="de-DE"/>
              <a:t>level</a:t>
            </a:r>
            <a:endParaRPr lang="de-DE"/>
          </a:p>
          <a:p>
            <a:pPr lvl="2">
              <a:defRPr/>
            </a:pPr>
            <a:r>
              <a:rPr lang="de-DE"/>
              <a:t>Third </a:t>
            </a:r>
            <a:r>
              <a:rPr lang="de-DE"/>
              <a:t>level</a:t>
            </a:r>
            <a:endParaRPr lang="de-DE"/>
          </a:p>
          <a:p>
            <a:pPr lvl="3">
              <a:defRPr/>
            </a:pPr>
            <a:r>
              <a:rPr lang="de-DE"/>
              <a:t>Fourth</a:t>
            </a:r>
            <a:r>
              <a:rPr lang="de-DE"/>
              <a:t> </a:t>
            </a:r>
            <a:r>
              <a:rPr lang="de-DE"/>
              <a:t>level</a:t>
            </a:r>
            <a:endParaRPr lang="de-DE"/>
          </a:p>
          <a:p>
            <a:pPr lvl="4">
              <a:defRPr/>
            </a:pPr>
            <a:r>
              <a:rPr lang="de-DE"/>
              <a:t>Fifth</a:t>
            </a:r>
            <a:r>
              <a:rPr lang="de-DE"/>
              <a:t> </a:t>
            </a:r>
            <a:r>
              <a:rPr lang="de-DE"/>
              <a:t>level</a:t>
            </a:r>
            <a:endParaRPr lang="de-DE"/>
          </a:p>
        </p:txBody>
      </p:sp>
      <p:sp>
        <p:nvSpPr>
          <p:cNvPr id="196882933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0" y="6626431"/>
            <a:ext cx="10751125" cy="193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7171272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51128" y="6626431"/>
            <a:ext cx="1440873" cy="200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1677957541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>
              <a:latin typeface="FAUSans Office"/>
              <a:cs typeface="FAUSans Office"/>
            </a:endParaRPr>
          </a:p>
        </p:txBody>
      </p:sp>
      <p:pic>
        <p:nvPicPr>
          <p:cNvPr id="2032439342" name="Grafik 16"/>
          <p:cNvPicPr>
            <a:picLocks noChangeAspect="1"/>
          </p:cNvPicPr>
          <p:nvPr userDrawn="1"/>
        </p:nvPicPr>
        <p:blipFill rotWithShape="1">
          <a:blip r:embed="rId13"/>
          <a:srcRect l="39727" t="0" r="0" b="0"/>
          <a:stretch/>
        </p:blipFill>
        <p:spPr bwMode="auto">
          <a:xfrm>
            <a:off x="1451645" y="105856"/>
            <a:ext cx="2416567" cy="777956"/>
          </a:xfrm>
          <a:prstGeom prst="rect">
            <a:avLst/>
          </a:prstGeom>
        </p:spPr>
      </p:pic>
      <p:pic>
        <p:nvPicPr>
          <p:cNvPr id="520756936" name="Grafik 15"/>
          <p:cNvPicPr>
            <a:picLocks noChangeAspect="1"/>
          </p:cNvPicPr>
          <p:nvPr userDrawn="1"/>
        </p:nvPicPr>
        <p:blipFill rotWithShape="1">
          <a:blip r:embed="rId13"/>
          <a:srcRect l="0" t="0" r="60095" b="0"/>
          <a:stretch/>
        </p:blipFill>
        <p:spPr bwMode="auto">
          <a:xfrm>
            <a:off x="390315" y="77734"/>
            <a:ext cx="1088762" cy="529404"/>
          </a:xfrm>
          <a:prstGeom prst="rect">
            <a:avLst/>
          </a:prstGeom>
        </p:spPr>
      </p:pic>
      <p:pic>
        <p:nvPicPr>
          <p:cNvPr id="1998250870" name="Picture 11"/>
          <p:cNvPicPr>
            <a:picLocks noChangeAspect="1"/>
          </p:cNvPicPr>
          <p:nvPr userDrawn="1"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 bwMode="auto">
          <a:xfrm>
            <a:off x="10969267" y="58487"/>
            <a:ext cx="1066800" cy="558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 i="0">
          <a:solidFill>
            <a:srgbClr val="2F586E"/>
          </a:solidFill>
          <a:latin typeface="Corbel"/>
          <a:ea typeface="+mj-ea"/>
          <a:cs typeface="FAUSans Office"/>
        </a:defRPr>
      </a:lvl1pPr>
    </p:titleStyle>
    <p:bodyStyle>
      <a:lvl1pPr marL="270000" indent="-270000" algn="l" defTabSz="914400" rtl="0">
        <a:lnSpc>
          <a:spcPct val="100000"/>
        </a:lnSpc>
        <a:spcBef>
          <a:spcPts val="1200"/>
        </a:spcBef>
        <a:buClr>
          <a:srgbClr val="2F586E"/>
        </a:buClr>
        <a:buFont typeface="System Font Regular"/>
        <a:buChar char="–"/>
        <a:defRPr sz="2400" b="0" i="0">
          <a:solidFill>
            <a:schemeClr val="tx1"/>
          </a:solidFill>
          <a:latin typeface="Corbel"/>
          <a:ea typeface="+mn-ea"/>
          <a:cs typeface="FAUSans Office"/>
        </a:defRPr>
      </a:lvl1pPr>
      <a:lvl2pPr marL="6858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2000" b="0" i="0">
          <a:solidFill>
            <a:schemeClr val="tx1"/>
          </a:solidFill>
          <a:latin typeface="Corbel"/>
          <a:ea typeface="+mn-ea"/>
          <a:cs typeface="FAUSans Office"/>
        </a:defRPr>
      </a:lvl2pPr>
      <a:lvl3pPr marL="11430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3pPr>
      <a:lvl4pPr marL="16002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4pPr>
      <a:lvl5pPr marL="2057400" indent="-230400" algn="l" defTabSz="914400" rtl="0">
        <a:lnSpc>
          <a:spcPct val="100000"/>
        </a:lnSpc>
        <a:spcBef>
          <a:spcPts val="500"/>
        </a:spcBef>
        <a:buClr>
          <a:srgbClr val="2F586E"/>
        </a:buClr>
        <a:buFont typeface="System Font Regular"/>
        <a:buChar char="–"/>
        <a:defRPr sz="1800" b="0" i="0">
          <a:solidFill>
            <a:schemeClr val="tx1"/>
          </a:solidFill>
          <a:latin typeface="Corbel"/>
          <a:ea typeface="+mn-ea"/>
          <a:cs typeface="FAUSans Office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779FB6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07521" name="Title Placeholder 1"/>
          <p:cNvSpPr>
            <a:spLocks noGrp="1"/>
          </p:cNvSpPr>
          <p:nvPr>
            <p:ph type="title"/>
          </p:nvPr>
        </p:nvSpPr>
        <p:spPr bwMode="auto">
          <a:xfrm>
            <a:off x="490329" y="681037"/>
            <a:ext cx="11410121" cy="984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8410831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328" y="1665178"/>
            <a:ext cx="11410120" cy="48621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GB"/>
              <a:t>Click to edit Master text styles</a:t>
            </a:r>
            <a:endParaRPr/>
          </a:p>
          <a:p>
            <a:pPr lvl="1">
              <a:defRPr/>
            </a:pPr>
            <a:r>
              <a:rPr lang="en-GB"/>
              <a:t>Second level</a:t>
            </a:r>
            <a:endParaRPr/>
          </a:p>
          <a:p>
            <a:pPr lvl="2">
              <a:defRPr/>
            </a:pPr>
            <a:r>
              <a:rPr lang="en-GB"/>
              <a:t>Third level</a:t>
            </a:r>
            <a:endParaRPr/>
          </a:p>
          <a:p>
            <a:pPr lvl="3">
              <a:defRPr/>
            </a:pPr>
            <a:r>
              <a:rPr lang="en-GB"/>
              <a:t>Fourth level</a:t>
            </a:r>
            <a:endParaRPr/>
          </a:p>
          <a:p>
            <a:pPr lvl="4">
              <a:defRPr/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141409720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0" y="6626431"/>
            <a:ext cx="10751124" cy="2007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57886058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751124" y="6626431"/>
            <a:ext cx="1440876" cy="1932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Corbel"/>
                <a:cs typeface="FAUSans Office"/>
              </a:defRPr>
            </a:lvl1pPr>
          </a:lstStyle>
          <a:p>
            <a:pPr>
              <a:defRPr/>
            </a:pPr>
            <a:fld id="{829544C9-B628-7A49-B553-AF55B3C6D9EE}" type="slidenum">
              <a:rPr lang="en-GB"/>
              <a:t>‹#›</a:t>
            </a:fld>
            <a:endParaRPr lang="en-GB"/>
          </a:p>
        </p:txBody>
      </p:sp>
      <p:sp>
        <p:nvSpPr>
          <p:cNvPr id="1459848431" name="Rechteck 2"/>
          <p:cNvSpPr/>
          <p:nvPr userDrawn="1"/>
        </p:nvSpPr>
        <p:spPr bwMode="auto">
          <a:xfrm>
            <a:off x="490331" y="654098"/>
            <a:ext cx="11701671" cy="52129"/>
          </a:xfrm>
          <a:prstGeom prst="rect">
            <a:avLst/>
          </a:prstGeom>
          <a:solidFill>
            <a:srgbClr val="2F58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endParaRPr lang="de-DE" sz="1800">
              <a:latin typeface="FAUSans Office"/>
              <a:cs typeface="FAUSans Office"/>
            </a:endParaRPr>
          </a:p>
        </p:txBody>
      </p:sp>
      <p:pic>
        <p:nvPicPr>
          <p:cNvPr id="1967292687" name="Grafik 10"/>
          <p:cNvPicPr>
            <a:picLocks noChangeAspect="1"/>
          </p:cNvPicPr>
          <p:nvPr userDrawn="1"/>
        </p:nvPicPr>
        <p:blipFill rotWithShape="1">
          <a:blip r:embed="rId13"/>
          <a:stretch/>
        </p:blipFill>
        <p:spPr bwMode="auto">
          <a:xfrm>
            <a:off x="1460789" y="115000"/>
            <a:ext cx="2416567" cy="772817"/>
          </a:xfrm>
          <a:prstGeom prst="rect">
            <a:avLst/>
          </a:prstGeom>
        </p:spPr>
      </p:pic>
      <p:pic>
        <p:nvPicPr>
          <p:cNvPr id="1887981481" name="Grafik 7"/>
          <p:cNvPicPr>
            <a:picLocks noChangeAspect="1"/>
          </p:cNvPicPr>
          <p:nvPr userDrawn="1"/>
        </p:nvPicPr>
        <p:blipFill rotWithShape="1">
          <a:blip r:embed="rId14"/>
          <a:stretch/>
        </p:blipFill>
        <p:spPr bwMode="auto">
          <a:xfrm>
            <a:off x="490328" y="165718"/>
            <a:ext cx="956868" cy="367677"/>
          </a:xfrm>
          <a:prstGeom prst="rect">
            <a:avLst/>
          </a:prstGeom>
        </p:spPr>
      </p:pic>
      <p:pic>
        <p:nvPicPr>
          <p:cNvPr id="1723548389" name="Picture 11"/>
          <p:cNvPicPr>
            <a:picLocks noChangeAspect="1"/>
          </p:cNvPicPr>
          <p:nvPr userDrawn="1"/>
        </p:nvPicPr>
        <p:blipFill rotWithShape="1">
          <a:blip r:embed="rId15"/>
          <a:stretch/>
        </p:blipFill>
        <p:spPr bwMode="auto">
          <a:xfrm>
            <a:off x="10969267" y="60408"/>
            <a:ext cx="1066800" cy="5588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3600" b="1" i="0">
          <a:solidFill>
            <a:schemeClr val="bg1"/>
          </a:solidFill>
          <a:latin typeface="Corbel"/>
          <a:ea typeface="+mj-ea"/>
          <a:cs typeface="FAUSans Office"/>
        </a:defRPr>
      </a:lvl1pPr>
    </p:titleStyle>
    <p:bodyStyle>
      <a:lvl1pPr marL="228600" indent="-270000" algn="l" defTabSz="914400" rtl="0">
        <a:lnSpc>
          <a:spcPct val="100000"/>
        </a:lnSpc>
        <a:spcBef>
          <a:spcPts val="1200"/>
        </a:spcBef>
        <a:buClr>
          <a:srgbClr val="FFFFFF"/>
        </a:buClr>
        <a:buFont typeface="System Font Regular"/>
        <a:buChar char="–"/>
        <a:defRPr sz="2400" b="0" i="0">
          <a:solidFill>
            <a:schemeClr val="bg1"/>
          </a:solidFill>
          <a:latin typeface="Corbel"/>
          <a:ea typeface="+mn-ea"/>
          <a:cs typeface="FAUSans Office"/>
        </a:defRPr>
      </a:lvl1pPr>
      <a:lvl2pPr marL="6858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2000" b="0" i="0">
          <a:solidFill>
            <a:schemeClr val="bg1"/>
          </a:solidFill>
          <a:latin typeface="Corbel"/>
          <a:ea typeface="+mn-ea"/>
          <a:cs typeface="FAUSans Office"/>
        </a:defRPr>
      </a:lvl2pPr>
      <a:lvl3pPr marL="11430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800" b="0" i="0">
          <a:solidFill>
            <a:schemeClr val="bg1"/>
          </a:solidFill>
          <a:latin typeface="Corbel"/>
          <a:ea typeface="+mn-ea"/>
          <a:cs typeface="FAUSans Office"/>
        </a:defRPr>
      </a:lvl3pPr>
      <a:lvl4pPr marL="16002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600" b="0" i="0">
          <a:solidFill>
            <a:schemeClr val="bg1"/>
          </a:solidFill>
          <a:latin typeface="Corbel"/>
          <a:ea typeface="+mn-ea"/>
          <a:cs typeface="FAUSans Office"/>
        </a:defRPr>
      </a:lvl4pPr>
      <a:lvl5pPr marL="2057400" indent="-228600" algn="l" defTabSz="914400" rtl="0">
        <a:lnSpc>
          <a:spcPct val="100000"/>
        </a:lnSpc>
        <a:spcBef>
          <a:spcPts val="500"/>
        </a:spcBef>
        <a:buClr>
          <a:srgbClr val="FFFFFF"/>
        </a:buClr>
        <a:buFont typeface="System Font Regular"/>
        <a:buChar char="–"/>
        <a:defRPr sz="1600" b="0" i="0">
          <a:solidFill>
            <a:schemeClr val="bg1"/>
          </a:solidFill>
          <a:latin typeface="Corbel"/>
          <a:ea typeface="+mn-ea"/>
          <a:cs typeface="FAUSans Office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media2.svg"/><Relationship Id="rId5" Type="http://schemas.openxmlformats.org/officeDocument/2006/relationships/image" Target="../media/image7.png"/><Relationship Id="rId6" Type="http://schemas.openxmlformats.org/officeDocument/2006/relationships/image" Target="../media/media3.svg"/><Relationship Id="rId7" Type="http://schemas.openxmlformats.org/officeDocument/2006/relationships/image" Target="../media/image8.png"/><Relationship Id="rId8" Type="http://schemas.openxmlformats.org/officeDocument/2006/relationships/image" Target="../media/media4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084397" name="Digital Reality: Visual Computing Interacting With The Real World"/>
          <p:cNvSpPr txBox="1">
            <a:spLocks noGrp="1"/>
          </p:cNvSpPr>
          <p:nvPr>
            <p:ph type="ctrTitle"/>
          </p:nvPr>
        </p:nvSpPr>
        <p:spPr bwMode="auto">
          <a:xfrm>
            <a:off x="914399" y="402177"/>
            <a:ext cx="10363199" cy="239818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de-DE"/>
              <a:t>Counting Fruits with State-of-the-Art Multi-View-Stereo Approaches</a:t>
            </a:r>
            <a:endParaRPr/>
          </a:p>
        </p:txBody>
      </p:sp>
      <p:sp>
        <p:nvSpPr>
          <p:cNvPr id="952075891" name="Tim Weyrich…"/>
          <p:cNvSpPr txBox="1">
            <a:spLocks noGrp="1"/>
          </p:cNvSpPr>
          <p:nvPr>
            <p:ph type="subTitle" idx="1"/>
          </p:nvPr>
        </p:nvSpPr>
        <p:spPr bwMode="auto">
          <a:xfrm>
            <a:off x="953103" y="2892438"/>
            <a:ext cx="10363199" cy="1655762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de-DE"/>
              <a:t>Alexander Link</a:t>
            </a:r>
            <a:endParaRPr lang="en-GB"/>
          </a:p>
          <a:p>
            <a:pPr>
              <a:defRPr/>
            </a:pPr>
            <a:r>
              <a:rPr lang="de-DE" sz="2000"/>
              <a:t>BSc Interim</a:t>
            </a:r>
            <a:r>
              <a:rPr lang="en-US" sz="2000"/>
              <a:t> Presentation</a:t>
            </a:r>
            <a:endParaRPr/>
          </a:p>
          <a:p>
            <a:pPr>
              <a:defRPr/>
            </a:pPr>
            <a:br>
              <a:rPr lang="en-US" sz="2000"/>
            </a:br>
            <a:r>
              <a:rPr lang="en-GB" sz="2000"/>
              <a:t>Supervisors:</a:t>
            </a:r>
            <a:r>
              <a:rPr lang="de-DE" sz="2000"/>
              <a:t> </a:t>
            </a:r>
            <a:r>
              <a:rPr lang="de-DE" sz="2000" b="0" i="0" u="none" strike="noStrike" cap="none" spc="0">
                <a:solidFill>
                  <a:schemeClr val="bg1"/>
                </a:solidFill>
                <a:latin typeface="Corbel"/>
                <a:ea typeface="Corbel"/>
                <a:cs typeface="Corbel"/>
              </a:rPr>
              <a:t>Prof. Dr. Bernhard Egger</a:t>
            </a:r>
            <a:r>
              <a:rPr lang="de-DE" sz="2000"/>
              <a:t>, Lukas Meyer M.Sc. </a:t>
            </a:r>
            <a:endParaRPr/>
          </a:p>
        </p:txBody>
      </p:sp>
      <p:sp>
        <p:nvSpPr>
          <p:cNvPr id="1839784621" name="Friedrich-Alexander-Universität Erlangen, 3 Februar 2020"/>
          <p:cNvSpPr txBox="1"/>
          <p:nvPr/>
        </p:nvSpPr>
        <p:spPr bwMode="auto">
          <a:xfrm>
            <a:off x="1023260" y="4276140"/>
            <a:ext cx="10104085" cy="792360"/>
          </a:xfrm>
          <a:prstGeom prst="rect">
            <a:avLst/>
          </a:prstGeom>
        </p:spPr>
        <p:txBody>
          <a:bodyPr lIns="35719" tIns="35719" rIns="35719" bIns="35719" anchor="b"/>
          <a:lstStyle/>
          <a:p>
            <a:pPr>
              <a:defRPr sz="2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</a:defRPr>
            </a:pPr>
            <a:r>
              <a:rPr lang="en-US" sz="2000">
                <a:latin typeface="Corbel"/>
                <a:cs typeface="FAUSans Office"/>
              </a:rPr>
              <a:t>Erlangen, </a:t>
            </a:r>
            <a:r>
              <a:rPr lang="de-DE" sz="2000">
                <a:latin typeface="Corbel"/>
                <a:cs typeface="FAUSans Office"/>
              </a:rPr>
              <a:t>31</a:t>
            </a:r>
            <a:r>
              <a:rPr lang="en-US" sz="2000">
                <a:latin typeface="Corbel"/>
                <a:cs typeface="FAUSans Office"/>
              </a:rPr>
              <a:t> </a:t>
            </a:r>
            <a:r>
              <a:rPr lang="de-DE" sz="2000">
                <a:latin typeface="Corbel"/>
                <a:cs typeface="FAUSans Office"/>
              </a:rPr>
              <a:t>Jul</a:t>
            </a:r>
            <a:r>
              <a:rPr lang="en-US" sz="2000">
                <a:latin typeface="Corbel"/>
                <a:cs typeface="FAUSans Office"/>
              </a:rPr>
              <a:t> 20</a:t>
            </a:r>
            <a:r>
              <a:rPr lang="de-DE" sz="2000">
                <a:latin typeface="Corbel"/>
                <a:cs typeface="FAUSans Office"/>
              </a:rPr>
              <a:t>26</a:t>
            </a:r>
            <a:endParaRPr sz="2000">
              <a:latin typeface="Corbel"/>
              <a:cs typeface="FAUSans Office"/>
            </a:endParaRPr>
          </a:p>
        </p:txBody>
      </p:sp>
      <p:pic>
        <p:nvPicPr>
          <p:cNvPr id="1083697661" name="Picture 1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7190007" y="5987856"/>
            <a:ext cx="1809512" cy="547415"/>
          </a:xfrm>
          <a:prstGeom prst="rect">
            <a:avLst/>
          </a:prstGeom>
        </p:spPr>
      </p:pic>
      <p:pic>
        <p:nvPicPr>
          <p:cNvPr id="573131737" name="Picture 3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9402458" y="5635871"/>
            <a:ext cx="2474419" cy="913848"/>
          </a:xfrm>
          <a:prstGeom prst="rect">
            <a:avLst/>
          </a:prstGeom>
        </p:spPr>
      </p:pic>
      <p:pic>
        <p:nvPicPr>
          <p:cNvPr id="1431245479" name="Picture 7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914399" y="5720151"/>
            <a:ext cx="2575387" cy="913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08865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100169239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Why count fruit automatically?</a:t>
            </a:r>
            <a:endParaRPr/>
          </a:p>
          <a:p>
            <a:pPr lvl="1">
              <a:defRPr/>
            </a:pPr>
            <a:r>
              <a:rPr lang="de-DE"/>
              <a:t>Yield estimation, labor planning, storage, and pricing in agriculture</a:t>
            </a:r>
            <a:endParaRPr lang="de-DE"/>
          </a:p>
          <a:p>
            <a:pPr lvl="1">
              <a:defRPr/>
            </a:pPr>
            <a:r>
              <a:rPr lang="de-DE"/>
              <a:t>Manual counting is slow and expensive</a:t>
            </a:r>
            <a:endParaRPr/>
          </a:p>
          <a:p>
            <a:pPr lvl="1">
              <a:defRPr/>
            </a:pPr>
            <a:r>
              <a:rPr lang="de-DE"/>
              <a:t>Goal: count fruit per tree from </a:t>
            </a:r>
            <a:r>
              <a:rPr lang="de-DE" sz="2000" b="1" i="0" u="none" strike="noStrike" cap="none" spc="0">
                <a:solidFill>
                  <a:srgbClr val="2F586E"/>
                </a:solidFill>
                <a:latin typeface="Corbel"/>
                <a:ea typeface="+mn-ea"/>
                <a:cs typeface="FAUSans Office"/>
              </a:rPr>
              <a:t>ordinary </a:t>
            </a:r>
            <a:r>
              <a:rPr lang="de-DE"/>
              <a:t>2D RGB images </a:t>
            </a:r>
            <a:endParaRPr lang="de-DE"/>
          </a:p>
          <a:p>
            <a:pPr lvl="1">
              <a:defRPr/>
            </a:pPr>
            <a:endParaRPr lang="de-DE"/>
          </a:p>
          <a:p>
            <a:pPr lvl="1">
              <a:defRPr/>
            </a:pPr>
            <a:endParaRPr lang="de-DE"/>
          </a:p>
          <a:p>
            <a:pPr lvl="1">
              <a:defRPr/>
            </a:pPr>
            <a:r>
              <a:rPr lang="de-DE">
                <a:highlight>
                  <a:srgbClr val="FFFF00"/>
                </a:highlight>
              </a:rPr>
              <a:t>TODO: Image apple tree -&gt; number</a:t>
            </a:r>
            <a:endParaRPr>
              <a:highlight>
                <a:srgbClr val="FFFF00"/>
              </a:highlight>
            </a:endParaRPr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5177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184086891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Previous Work: FruitNeRF</a:t>
            </a:r>
            <a:endParaRPr lang="de-DE"/>
          </a:p>
          <a:p>
            <a:pPr lvl="1">
              <a:defRPr/>
            </a:pPr>
            <a:r>
              <a:rPr lang="de-DE"/>
              <a:t>2D images + masks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/>
              <a:t> NeRF "Fruit Field"</a:t>
            </a:r>
            <a:r>
              <a:rPr lang="de-DE"/>
              <a:t>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+mn-ea"/>
                <a:cs typeface="FAUSans Office"/>
              </a:rPr>
              <a:t> </a:t>
            </a:r>
            <a:r>
              <a:rPr lang="de-DE"/>
              <a:t>apple only point cloud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+mn-ea"/>
                <a:cs typeface="FAUSans Office"/>
              </a:rPr>
              <a:t> </a:t>
            </a:r>
            <a:r>
              <a:rPr lang="de-DE"/>
              <a:t>clustering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+mn-ea"/>
                <a:cs typeface="FAUSans Office"/>
              </a:rPr>
              <a:t> </a:t>
            </a:r>
            <a:r>
              <a:rPr lang="de-DE"/>
              <a:t>count</a:t>
            </a:r>
            <a:endParaRPr lang="de-DE"/>
          </a:p>
          <a:p>
            <a:pPr lvl="1">
              <a:defRPr/>
            </a:pPr>
            <a:r>
              <a:rPr lang="de-DE"/>
              <a:t>~89% detection on real trees (~82% when occluded)</a:t>
            </a:r>
            <a:endParaRPr lang="de-DE"/>
          </a:p>
          <a:p>
            <a:pPr lvl="1">
              <a:defRPr/>
            </a:pPr>
            <a:r>
              <a:rPr lang="de-DE"/>
              <a:t>Per-scene NeRF training: slow, high VRAM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not real-time capable</a:t>
            </a:r>
            <a:endParaRPr lang="de-DE"/>
          </a:p>
          <a:p>
            <a:pPr lvl="0">
              <a:defRPr/>
            </a:pPr>
            <a:r>
              <a:rPr lang="de-DE"/>
              <a:t>Can we replace NeRF with a faster method?</a:t>
            </a:r>
            <a:endParaRPr lang="de-DE"/>
          </a:p>
          <a:p>
            <a:pPr lvl="0">
              <a:defRPr/>
            </a:pPr>
            <a:endParaRPr lang="de-DE"/>
          </a:p>
          <a:p>
            <a:pPr lvl="0">
              <a:defRPr/>
            </a:pPr>
            <a:endParaRPr lang="de-DE"/>
          </a:p>
          <a:p>
            <a:pPr lvl="0">
              <a:defRPr/>
            </a:pPr>
            <a:r>
              <a:rPr lang="de-DE">
                <a:highlight>
                  <a:srgbClr val="FFFF00"/>
                </a:highlight>
              </a:rPr>
              <a:t>TODO: FruitNeRF pipeline Übersicht?</a:t>
            </a:r>
            <a:endParaRPr>
              <a:highlight>
                <a:srgbClr val="FFFF00"/>
              </a:highlight>
            </a:endParaRPr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68843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Motivation</a:t>
            </a:r>
            <a:endParaRPr/>
          </a:p>
        </p:txBody>
      </p:sp>
      <p:sp>
        <p:nvSpPr>
          <p:cNvPr id="91425051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Very basic idea: detect and count fruit instances across images</a:t>
            </a:r>
            <a:endParaRPr lang="de-DE"/>
          </a:p>
          <a:p>
            <a:pPr>
              <a:defRPr/>
            </a:pPr>
            <a:r>
              <a:rPr lang="de-DE"/>
              <a:t>Problems:</a:t>
            </a:r>
            <a:endParaRPr lang="de-DE"/>
          </a:p>
          <a:p>
            <a:pPr lvl="1">
              <a:defRPr/>
            </a:pPr>
            <a:r>
              <a:rPr lang="de-DE"/>
              <a:t>Double counting</a:t>
            </a:r>
            <a:endParaRPr lang="de-DE"/>
          </a:p>
          <a:p>
            <a:pPr lvl="1">
              <a:defRPr/>
            </a:pPr>
            <a:r>
              <a:rPr lang="de-DE"/>
              <a:t>Occlusion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Missing fruit</a:t>
            </a:r>
            <a:endParaRPr lang="de-DE"/>
          </a:p>
          <a:p>
            <a:pPr lvl="0">
              <a:defRPr/>
            </a:pPr>
            <a:r>
              <a:rPr lang="de-DE"/>
              <a:t>Need association in a shared 3D frame</a:t>
            </a:r>
            <a:endParaRPr lang="de-DE"/>
          </a:p>
          <a:p>
            <a:pPr lvl="0">
              <a:defRPr/>
            </a:pPr>
            <a:endParaRPr lang="de-DE"/>
          </a:p>
          <a:p>
            <a:pPr lvl="0">
              <a:defRPr/>
            </a:pPr>
            <a:r>
              <a:rPr lang="de-DE">
                <a:highlight>
                  <a:srgbClr val="FFFF00"/>
                </a:highlight>
              </a:rPr>
              <a:t>TODO: Image: two views, arrows -&gt; same apple?</a:t>
            </a:r>
            <a:endParaRPr>
              <a:highlight>
                <a:srgbClr val="FFFF00"/>
              </a:highlight>
            </a:endParaRPr>
          </a:p>
          <a:p>
            <a:pPr marL="455400" lvl="1" indent="0">
              <a:buClr>
                <a:srgbClr val="2F586E"/>
              </a:buClr>
              <a:buFont typeface="System Font Regular"/>
              <a:buNone/>
              <a:defRPr/>
            </a:pPr>
            <a:endParaRPr lang="de-DE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821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From NeRF to Feed-Forward</a:t>
            </a:r>
            <a:endParaRPr/>
          </a:p>
        </p:txBody>
      </p:sp>
      <p:sp>
        <p:nvSpPr>
          <p:cNvPr id="83209645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Alternative: </a:t>
            </a:r>
            <a:r>
              <a:rPr lang="de-DE"/>
              <a:t>feed-forward MVS (e.g. </a:t>
            </a:r>
            <a:r>
              <a:rPr lang="de-DE" sz="2400" b="1" i="0" u="none" strike="noStrike" cap="none" spc="0">
                <a:solidFill>
                  <a:srgbClr val="2F586E"/>
                </a:solidFill>
                <a:latin typeface="Corbel"/>
                <a:ea typeface="Arial"/>
                <a:cs typeface="FAUSans Office"/>
              </a:rPr>
              <a:t>VGGT</a:t>
            </a:r>
            <a:r>
              <a:rPr lang="de-DE"/>
              <a:t>)</a:t>
            </a:r>
            <a:endParaRPr/>
          </a:p>
          <a:p>
            <a:pPr lvl="1">
              <a:defRPr/>
            </a:pPr>
            <a:r>
              <a:rPr lang="de-DE"/>
              <a:t>Instead of per-scene iterative optimization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pretrained, single pass</a:t>
            </a:r>
            <a:endParaRPr lang="de-DE"/>
          </a:p>
          <a:p>
            <a:pPr lvl="1">
              <a:defRPr/>
            </a:pPr>
            <a:r>
              <a:rPr lang="de-DE"/>
              <a:t>Outputs: 3D point map + poses + confidence</a:t>
            </a:r>
            <a:endParaRPr lang="de-DE"/>
          </a:p>
          <a:p>
            <a:pPr lvl="1">
              <a:defRPr/>
            </a:pPr>
            <a:r>
              <a:rPr lang="de-DE"/>
              <a:t>Tradeoff: </a:t>
            </a:r>
            <a:r>
              <a:rPr lang="de-DE" sz="2000" b="1" i="0" u="none" strike="noStrike" cap="none" spc="0">
                <a:solidFill>
                  <a:srgbClr val="2F586E"/>
                </a:solidFill>
                <a:latin typeface="Corbel"/>
                <a:ea typeface="Arial"/>
                <a:cs typeface="FAUSans Office"/>
              </a:rPr>
              <a:t>fast</a:t>
            </a:r>
            <a:r>
              <a:rPr lang="de-DE"/>
              <a:t>, but </a:t>
            </a:r>
            <a:r>
              <a:rPr lang="de-DE" sz="2000" b="1" i="0" u="none" strike="noStrike" cap="none" spc="0">
                <a:solidFill>
                  <a:srgbClr val="2F586E"/>
                </a:solidFill>
                <a:latin typeface="Corbel"/>
                <a:ea typeface="Arial"/>
                <a:cs typeface="FAUSans Office"/>
              </a:rPr>
              <a:t>noisier</a:t>
            </a:r>
            <a:r>
              <a:rPr lang="de-DE"/>
              <a:t> and no semantic field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3584353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Methodology</a:t>
            </a:r>
            <a:endParaRPr lang="en-US"/>
          </a:p>
        </p:txBody>
      </p:sp>
      <p:sp>
        <p:nvSpPr>
          <p:cNvPr id="1224993343" name="Text Placeholder 1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2631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Method Overview</a:t>
            </a:r>
            <a:endParaRPr/>
          </a:p>
        </p:txBody>
      </p:sp>
      <p:sp>
        <p:nvSpPr>
          <p:cNvPr id="211218561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Input: 2D images</a:t>
            </a:r>
            <a:endParaRPr lang="de-DE"/>
          </a:p>
          <a:p>
            <a:pPr>
              <a:defRPr/>
            </a:pPr>
            <a:r>
              <a:rPr lang="de-DE"/>
              <a:t>SAM3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2D instance masks</a:t>
            </a:r>
            <a:endParaRPr lang="de-DE"/>
          </a:p>
          <a:p>
            <a:pPr>
              <a:defRPr/>
            </a:pPr>
            <a:r>
              <a:rPr lang="de-DE"/>
              <a:t>VGGT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point map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noise filter</a:t>
            </a:r>
            <a:endParaRPr lang="de-DE"/>
          </a:p>
          <a:p>
            <a:pPr>
              <a:defRPr/>
            </a:pPr>
            <a:r>
              <a:rPr lang="de-DE"/>
              <a:t>Graph-based 3D-proximity association</a:t>
            </a:r>
            <a:endParaRPr lang="de-DE"/>
          </a:p>
          <a:p>
            <a:pPr>
              <a:defRPr/>
            </a:pPr>
            <a:r>
              <a:rPr lang="de-DE"/>
              <a:t>Clustering</a:t>
            </a:r>
            <a:endParaRPr lang="de-DE"/>
          </a:p>
          <a:p>
            <a:pPr>
              <a:defRPr/>
            </a:pPr>
            <a:r>
              <a:rPr lang="de-DE"/>
              <a:t>Filtering</a:t>
            </a:r>
            <a:endParaRPr lang="de-DE"/>
          </a:p>
          <a:p>
            <a:pPr>
              <a:defRPr/>
            </a:pPr>
            <a:r>
              <a:rPr lang="de-DE"/>
              <a:t>Output: Fruit Count</a:t>
            </a:r>
            <a:endParaRPr lang="de-DE"/>
          </a:p>
          <a:p>
            <a:pPr lvl="0">
              <a:defRPr/>
            </a:pPr>
            <a:r>
              <a:rPr lang="de-DE">
                <a:highlight>
                  <a:srgbClr val="FFFF00"/>
                </a:highlight>
              </a:rPr>
              <a:t>TODO: Visual / Flowchart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22791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Input</a:t>
            </a:r>
            <a:r>
              <a:rPr lang="de-DE"/>
              <a:t> and Preparation</a:t>
            </a:r>
            <a:endParaRPr/>
          </a:p>
        </p:txBody>
      </p:sp>
      <p:sp>
        <p:nvSpPr>
          <p:cNvPr id="2560073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Input: 2D Images</a:t>
            </a:r>
            <a:endParaRPr lang="de-DE"/>
          </a:p>
          <a:p>
            <a:pPr>
              <a:defRPr/>
            </a:pPr>
            <a:r>
              <a:rPr lang="de-DE"/>
              <a:t>Run SAM3 on each image</a:t>
            </a:r>
            <a:endParaRPr lang="de-DE"/>
          </a:p>
          <a:p>
            <a:pPr lvl="1">
              <a:defRPr/>
            </a:pPr>
            <a:r>
              <a:rPr lang="de-DE">
                <a:highlight>
                  <a:srgbClr val="FFFF00"/>
                </a:highlight>
              </a:rPr>
              <a:t>TODO: image example RGB -&gt; Instance Mask</a:t>
            </a:r>
            <a:endParaRPr>
              <a:highlight>
                <a:srgbClr val="FFFF00"/>
              </a:highlight>
            </a:endParaRPr>
          </a:p>
          <a:p>
            <a:pPr lvl="0">
              <a:defRPr/>
            </a:pPr>
            <a:r>
              <a:rPr lang="de-DE"/>
              <a:t>Run VGGT on RGB image set and filter noise</a:t>
            </a:r>
            <a:endParaRPr lang="de-DE"/>
          </a:p>
          <a:p>
            <a:pPr lvl="0">
              <a:defRPr/>
            </a:pPr>
            <a:r>
              <a:rPr lang="de-DE">
                <a:highlight>
                  <a:srgbClr val="FFFF00"/>
                </a:highlight>
              </a:rPr>
              <a:t>TODO: RGB + SAM3 image, pointcloud screenshot before - after</a:t>
            </a:r>
            <a:endParaRPr>
              <a:highlight>
                <a:srgbClr val="FFFF00"/>
              </a:highlight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26604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Graph-based 3D-proximity instance association</a:t>
            </a:r>
            <a:endParaRPr/>
          </a:p>
        </p:txBody>
      </p:sp>
      <p:sp>
        <p:nvSpPr>
          <p:cNvPr id="1522481777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Each mask instance = a node</a:t>
            </a:r>
            <a:endParaRPr lang="de-DE"/>
          </a:p>
          <a:p>
            <a:pPr>
              <a:defRPr/>
            </a:pPr>
            <a:r>
              <a:rPr lang="de-DE"/>
              <a:t>Match instances across views by 3D proximity</a:t>
            </a:r>
            <a:endParaRPr lang="de-DE"/>
          </a:p>
          <a:p>
            <a:pPr>
              <a:defRPr/>
            </a:pPr>
            <a:r>
              <a:rPr lang="de-DE"/>
              <a:t>Hungarian assignment picks best match</a:t>
            </a:r>
            <a:endParaRPr lang="de-DE"/>
          </a:p>
          <a:p>
            <a:pPr>
              <a:defRPr/>
            </a:pPr>
            <a:r>
              <a:rPr lang="de-DE"/>
              <a:t>Connected components = candidate apples</a:t>
            </a:r>
            <a:endParaRPr lang="de-DE"/>
          </a:p>
          <a:p>
            <a:pPr>
              <a:defRPr/>
            </a:pPr>
            <a:r>
              <a:rPr lang="de-DE">
                <a:highlight>
                  <a:srgbClr val="FFFF00"/>
                </a:highlight>
              </a:rPr>
              <a:t>TODO: Step by step on table dataset or rough summary?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50957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Clustering</a:t>
            </a:r>
            <a:endParaRPr/>
          </a:p>
        </p:txBody>
      </p:sp>
      <p:sp>
        <p:nvSpPr>
          <p:cNvPr id="88291971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DBSCAN</a:t>
            </a:r>
            <a:endParaRPr/>
          </a:p>
          <a:p>
            <a:pPr lvl="1">
              <a:defRPr/>
            </a:pPr>
            <a:r>
              <a:rPr lang="de-DE"/>
              <a:t>Chaining between instances</a:t>
            </a:r>
            <a:endParaRPr lang="de-DE"/>
          </a:p>
          <a:p>
            <a:pPr lvl="1">
              <a:defRPr/>
            </a:pPr>
            <a:r>
              <a:rPr lang="de-DE"/>
              <a:t>Final count highly sensitive to parameters</a:t>
            </a:r>
            <a:endParaRPr lang="de-DE"/>
          </a:p>
          <a:p>
            <a:pPr lvl="0">
              <a:defRPr/>
            </a:pPr>
            <a:r>
              <a:rPr lang="de-DE"/>
              <a:t>Complete-linkage agglomerative</a:t>
            </a:r>
            <a:endParaRPr lang="de-DE"/>
          </a:p>
          <a:p>
            <a:pPr lvl="1">
              <a:defRPr/>
            </a:pPr>
            <a:r>
              <a:rPr lang="de-DE"/>
              <a:t>Cap cluster size to ~apple size</a:t>
            </a:r>
            <a:endParaRPr lang="de-DE"/>
          </a:p>
          <a:p>
            <a:pPr lvl="1">
              <a:defRPr/>
            </a:pPr>
            <a:r>
              <a:rPr lang="de-DE"/>
              <a:t>More stable</a:t>
            </a:r>
            <a:endParaRPr lang="de-DE"/>
          </a:p>
          <a:p>
            <a:pPr lvl="1">
              <a:defRPr/>
            </a:pPr>
            <a:endParaRPr lang="de-DE"/>
          </a:p>
          <a:p>
            <a:pPr lvl="1">
              <a:defRPr/>
            </a:pPr>
            <a:endParaRPr lang="de-DE"/>
          </a:p>
          <a:p>
            <a:pPr lvl="0">
              <a:defRPr/>
            </a:pPr>
            <a:r>
              <a:rPr lang="de-DE">
                <a:highlight>
                  <a:srgbClr val="FFFF00"/>
                </a:highlight>
              </a:rPr>
              <a:t>TODO: Comparison in Pointcloud</a:t>
            </a:r>
            <a:endParaRPr>
              <a:highlight>
                <a:srgbClr val="FFFF00"/>
              </a:highlight>
            </a:endParaRPr>
          </a:p>
          <a:p>
            <a:pPr marL="455400" lvl="1" indent="0">
              <a:buClr>
                <a:srgbClr val="2F586E"/>
              </a:buClr>
              <a:buFont typeface="System Font Regular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5579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Filtering</a:t>
            </a:r>
            <a:endParaRPr/>
          </a:p>
        </p:txBody>
      </p:sp>
      <p:sp>
        <p:nvSpPr>
          <p:cNvPr id="1241500223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Try to fit a sphere to each apple candidate (RANSAC)</a:t>
            </a:r>
            <a:endParaRPr lang="de-DE"/>
          </a:p>
          <a:p>
            <a:pPr>
              <a:defRPr/>
            </a:pPr>
            <a:r>
              <a:rPr lang="de-DE"/>
              <a:t>Reject if bad radius or too few points</a:t>
            </a:r>
            <a:endParaRPr lang="de-DE"/>
          </a:p>
          <a:p>
            <a:pPr>
              <a:defRPr/>
            </a:pPr>
            <a:r>
              <a:rPr lang="de-DE"/>
              <a:t>Before or after clustering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de-DE">
                <a:highlight>
                  <a:srgbClr val="FFFF00"/>
                </a:highlight>
              </a:rPr>
              <a:t>TODO: Before/After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881585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Preliminary Results</a:t>
            </a:r>
            <a:endParaRPr lang="en-US"/>
          </a:p>
        </p:txBody>
      </p:sp>
      <p:sp>
        <p:nvSpPr>
          <p:cNvPr id="1110897900" name="Text Placeholder 1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483029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Good Case</a:t>
            </a:r>
            <a:endParaRPr/>
          </a:p>
        </p:txBody>
      </p:sp>
      <p:sp>
        <p:nvSpPr>
          <p:cNvPr id="1214599164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Good Scene:</a:t>
            </a:r>
            <a:endParaRPr lang="de-DE"/>
          </a:p>
          <a:p>
            <a:pPr lvl="1">
              <a:defRPr/>
            </a:pPr>
            <a:r>
              <a:rPr lang="de-DE"/>
              <a:t>Static</a:t>
            </a:r>
            <a:endParaRPr lang="de-DE"/>
          </a:p>
          <a:p>
            <a:pPr lvl="1">
              <a:defRPr/>
            </a:pPr>
            <a:r>
              <a:rPr lang="de-DE"/>
              <a:t>Even lighting</a:t>
            </a:r>
            <a:endParaRPr lang="de-DE"/>
          </a:p>
          <a:p>
            <a:pPr lvl="1">
              <a:defRPr/>
            </a:pPr>
            <a:r>
              <a:rPr lang="de-DE"/>
              <a:t>Clear geometry, low noise</a:t>
            </a:r>
            <a:endParaRPr/>
          </a:p>
          <a:p>
            <a:pPr marL="0" lvl="0" indent="0">
              <a:buClr>
                <a:srgbClr val="2F586E"/>
              </a:buClr>
              <a:buFont typeface="System Font Regular"/>
              <a:buNone/>
              <a:defRPr/>
            </a:pP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Works really well!</a:t>
            </a:r>
            <a:endParaRPr/>
          </a:p>
          <a:p>
            <a:pPr marL="455400" lvl="1" indent="0">
              <a:buClr>
                <a:srgbClr val="2F586E"/>
              </a:buClr>
              <a:buFont typeface="System Font Regular"/>
              <a:buNone/>
              <a:defRPr/>
            </a:pPr>
            <a:endParaRPr/>
          </a:p>
          <a:p>
            <a:pPr lvl="1">
              <a:defRPr/>
            </a:pPr>
            <a:r>
              <a:rPr lang="de-DE">
                <a:highlight>
                  <a:srgbClr val="FFFF00"/>
                </a:highlight>
              </a:rPr>
              <a:t>TODO: Table example</a:t>
            </a:r>
            <a:r>
              <a:rPr lang="de-DE">
                <a:highlight>
                  <a:srgbClr val="FFFF00"/>
                </a:highlight>
              </a:rPr>
              <a:t>, final ply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11264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Hard Case</a:t>
            </a:r>
            <a:endParaRPr/>
          </a:p>
        </p:txBody>
      </p:sp>
      <p:sp>
        <p:nvSpPr>
          <p:cNvPr id="674909032" name="Content Placeholder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de-DE"/>
              <a:t>Hard Scene:</a:t>
            </a:r>
            <a:endParaRPr lang="de-DE"/>
          </a:p>
          <a:p>
            <a:pPr lvl="1">
              <a:defRPr/>
            </a:pPr>
            <a:r>
              <a:rPr lang="de-DE"/>
              <a:t>Motion</a:t>
            </a:r>
            <a:endParaRPr lang="de-DE"/>
          </a:p>
          <a:p>
            <a:pPr lvl="1">
              <a:defRPr/>
            </a:pPr>
            <a:r>
              <a:rPr lang="de-DE"/>
              <a:t>Changes  in lighting</a:t>
            </a:r>
            <a:endParaRPr lang="de-DE"/>
          </a:p>
          <a:p>
            <a:pPr lvl="1">
              <a:defRPr/>
            </a:pPr>
            <a:r>
              <a:rPr lang="de-DE"/>
              <a:t>occlusion</a:t>
            </a:r>
            <a:endParaRPr lang="de-DE"/>
          </a:p>
          <a:p>
            <a:pPr lvl="1">
              <a:defRPr/>
            </a:pPr>
            <a:r>
              <a:rPr lang="de-DE"/>
              <a:t>Large</a:t>
            </a:r>
            <a:endParaRPr lang="de-DE"/>
          </a:p>
          <a:p>
            <a:pPr lvl="0">
              <a:defRPr/>
            </a:pPr>
            <a:r>
              <a:rPr lang="de-DE"/>
              <a:t>Problems:</a:t>
            </a:r>
            <a:endParaRPr lang="de-DE"/>
          </a:p>
          <a:p>
            <a:pPr lvl="1">
              <a:defRPr/>
            </a:pPr>
            <a:r>
              <a:rPr lang="de-DE"/>
              <a:t>Overmerge</a:t>
            </a:r>
            <a:endParaRPr lang="de-DE"/>
          </a:p>
          <a:p>
            <a:pPr lvl="1">
              <a:defRPr/>
            </a:pPr>
            <a:r>
              <a:rPr lang="de-DE"/>
              <a:t>Fragmentation</a:t>
            </a:r>
            <a:endParaRPr lang="de-DE"/>
          </a:p>
          <a:p>
            <a:pPr lvl="1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311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Outlook</a:t>
            </a:r>
            <a:endParaRPr/>
          </a:p>
        </p:txBody>
      </p:sp>
      <p:sp>
        <p:nvSpPr>
          <p:cNvPr id="36602573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de-DE"/>
              <a:t>Method:</a:t>
            </a:r>
            <a:endParaRPr lang="de-DE"/>
          </a:p>
          <a:p>
            <a:pPr lvl="1">
              <a:defRPr/>
            </a:pPr>
            <a:r>
              <a:rPr lang="de-DE"/>
              <a:t>Strict matching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fragmentation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+mn-ea"/>
                <a:cs typeface="FAUSans Office"/>
              </a:rPr>
              <a:t>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can clustering resolve this?</a:t>
            </a:r>
            <a:endParaRPr lang="de-DE"/>
          </a:p>
          <a:p>
            <a:pPr lvl="1">
              <a:defRPr/>
            </a:pPr>
            <a:r>
              <a:rPr lang="de-DE"/>
              <a:t>Loose matching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overmerging</a:t>
            </a:r>
            <a:endParaRPr lang="de-DE"/>
          </a:p>
          <a:p>
            <a:pPr marL="455400" lvl="1" indent="0">
              <a:buClr>
                <a:srgbClr val="2F586E"/>
              </a:buClr>
              <a:buFont typeface="System Font Regular"/>
              <a:buNone/>
              <a:defRPr/>
            </a:pP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 sz="20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Include direction of apple fragments with loose matching?</a:t>
            </a:r>
            <a:endParaRPr lang="de-DE"/>
          </a:p>
          <a:p>
            <a:pPr lvl="0">
              <a:defRPr/>
            </a:pPr>
            <a:r>
              <a:rPr lang="de-DE"/>
              <a:t>Overmerge vs Fragmentation Tradeoff</a:t>
            </a:r>
            <a:r>
              <a:rPr lang="de-DE"/>
              <a:t> 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Corbel"/>
                <a:cs typeface="Corbel"/>
              </a:rPr>
              <a:t>→</a:t>
            </a:r>
            <a:r>
              <a:rPr lang="de-DE" sz="2400" b="0" i="0" u="none" strike="noStrike" cap="none" spc="0">
                <a:solidFill>
                  <a:schemeClr val="tx1"/>
                </a:solidFill>
                <a:latin typeface="Corbel"/>
                <a:ea typeface="Arial"/>
                <a:cs typeface="FAUSans Office"/>
              </a:rPr>
              <a:t> </a:t>
            </a:r>
            <a:r>
              <a:rPr lang="de-DE"/>
              <a:t>Limitation/Potential</a:t>
            </a:r>
            <a:endParaRPr lang="de-DE"/>
          </a:p>
          <a:p>
            <a:pPr lvl="0">
              <a:defRPr/>
            </a:pPr>
            <a:r>
              <a:rPr lang="de-DE"/>
              <a:t>Iterative Connection/rejection?</a:t>
            </a:r>
            <a:endParaRPr lang="de-DE"/>
          </a:p>
          <a:p>
            <a:pPr lvl="0">
              <a:defRPr/>
            </a:pPr>
            <a:r>
              <a:rPr lang="de-DE"/>
              <a:t>Is merging a dead end?</a:t>
            </a:r>
            <a:endParaRPr lang="de-DE"/>
          </a:p>
          <a:p>
            <a:pPr lvl="0">
              <a:defRPr/>
            </a:pPr>
            <a:r>
              <a:rPr lang="de-DE"/>
              <a:t>Other fruit?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586126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Beautiful slide</a:t>
            </a:r>
            <a:endParaRPr/>
          </a:p>
        </p:txBody>
      </p:sp>
      <p:sp>
        <p:nvSpPr>
          <p:cNvPr id="17932695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/>
              <a:t>With bullets</a:t>
            </a:r>
            <a:endParaRPr/>
          </a:p>
          <a:p>
            <a:pPr lvl="1">
              <a:defRPr/>
            </a:pPr>
            <a:r>
              <a:rPr lang="en-GB"/>
              <a:t>and sub-bullets</a:t>
            </a:r>
            <a:endParaRPr/>
          </a:p>
          <a:p>
            <a:pPr lvl="1">
              <a:defRPr/>
            </a:pPr>
            <a:r>
              <a:rPr lang="en-GB"/>
              <a:t>while staying clear of overly wordy bullets that excessively strain the audience’s attention that desperately tries to simultaneously follow the narrative offered by the presenter</a:t>
            </a:r>
            <a:endParaRPr/>
          </a:p>
          <a:p>
            <a:pPr>
              <a:defRPr/>
            </a:pPr>
            <a:r>
              <a:rPr lang="en-GB"/>
              <a:t>Occasionally you might want to add </a:t>
            </a:r>
            <a:r>
              <a:rPr lang="en-GB" b="1">
                <a:solidFill>
                  <a:srgbClr val="2F586E"/>
                </a:solidFill>
              </a:rPr>
              <a:t>emphasis</a:t>
            </a:r>
            <a:r>
              <a:rPr lang="en-GB"/>
              <a:t> to your writing</a:t>
            </a:r>
            <a:endParaRPr/>
          </a:p>
          <a:p>
            <a:pPr>
              <a:defRPr/>
            </a:pPr>
            <a:endParaRPr lang="en-GB"/>
          </a:p>
          <a:p>
            <a:pPr>
              <a:defRPr/>
            </a:pPr>
            <a:r>
              <a:rPr lang="en-GB"/>
              <a:t>Do not forget to add / remove logos from the title slide as appropriate</a:t>
            </a:r>
            <a:endParaRPr/>
          </a:p>
          <a:p>
            <a:pPr lvl="1">
              <a:defRPr/>
            </a:pPr>
            <a:r>
              <a:rPr lang="en-GB"/>
              <a:t>logo “LGDV”: </a:t>
            </a:r>
            <a:r>
              <a:rPr lang="en-GB"/>
              <a:t>Lehrstuhl</a:t>
            </a:r>
            <a:r>
              <a:rPr lang="en-GB"/>
              <a:t> Prof. </a:t>
            </a:r>
            <a:r>
              <a:rPr lang="en-GB"/>
              <a:t>Stamminger</a:t>
            </a:r>
            <a:endParaRPr lang="en-GB"/>
          </a:p>
          <a:p>
            <a:pPr lvl="1">
              <a:defRPr/>
            </a:pPr>
            <a:r>
              <a:rPr lang="en-GB"/>
              <a:t>logo “DR”: </a:t>
            </a:r>
            <a:r>
              <a:rPr lang="en-GB"/>
              <a:t>Lehrstuhl</a:t>
            </a:r>
            <a:r>
              <a:rPr lang="en-GB"/>
              <a:t> Prof. Weyrich</a:t>
            </a:r>
            <a:endParaRPr/>
          </a:p>
          <a:p>
            <a:pPr lvl="1">
              <a:defRPr/>
            </a:pPr>
            <a:r>
              <a:rPr lang="en-GB"/>
              <a:t>additional logos potentially to be provided: Profs. Egger and Günther</a:t>
            </a:r>
            <a:endParaRPr/>
          </a:p>
          <a:p>
            <a:pPr lvl="1">
              <a:defRPr/>
            </a:pPr>
            <a:r>
              <a:rPr lang="en-GB"/>
              <a:t>logo “</a:t>
            </a:r>
            <a:r>
              <a:rPr lang="en-GB"/>
              <a:t>vce</a:t>
            </a:r>
            <a:r>
              <a:rPr lang="en-GB"/>
              <a:t>” applies to all of the above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991815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Section</a:t>
            </a:r>
            <a:r>
              <a:rPr lang="de-DE"/>
              <a:t> title</a:t>
            </a:r>
            <a:endParaRPr lang="en-US"/>
          </a:p>
        </p:txBody>
      </p:sp>
      <p:sp>
        <p:nvSpPr>
          <p:cNvPr id="1910099547" name="Text Placeholder 1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2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{99E9A84D-BC8F-BA4F-8320-151250D21FD1}tf10001120</Template>
  <TotalTime>0</TotalTime>
  <Words>0</Words>
  <Application>ONLYOFFICE/9.4.0.129</Application>
  <PresentationFormat>On-screen Show (4:3)</PresentationFormat>
  <Paragraphs>0</Paragraphs>
  <Slides>17</Slides>
  <Notes>17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Weyrich, Tim</dc:creator>
  <cp:lastModifiedBy/>
  <cp:revision>485</cp:revision>
  <dcterms:created xsi:type="dcterms:W3CDTF">2021-10-28T08:28:15Z</dcterms:created>
  <dcterms:modified xsi:type="dcterms:W3CDTF">2026-07-29T13:51:48Z</dcterms:modified>
</cp:coreProperties>
</file>
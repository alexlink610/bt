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BCA74-F8F1-4ADB-A12D-4846B9573BF1}" v="615" dt="2026-06-05T11:44:0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E29EDD8-3674-46E9-BE33-59C92359A6C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E33316-9740-4976-868D-E8D2CACE50F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2F7AB3-4877-4ACC-80E5-399A19A30F7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AC3964-3F0B-45A1-B48F-688C50515CCC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E6EFC62-5927-49C2-B4C6-DE26C09FB131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D603A38-606D-46D6-AD71-ADE9D19AAF7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4E647F-EB45-4488-99FE-DA9C63184A4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88464-F0A2-DB73-F38E-B510CE58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>
            <a:extLst>
              <a:ext uri="{FF2B5EF4-FFF2-40B4-BE49-F238E27FC236}">
                <a16:creationId xmlns:a16="http://schemas.microsoft.com/office/drawing/2014/main" id="{0237BAB7-EEC5-4313-2889-C858DB253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>
            <a:extLst>
              <a:ext uri="{FF2B5EF4-FFF2-40B4-BE49-F238E27FC236}">
                <a16:creationId xmlns:a16="http://schemas.microsoft.com/office/drawing/2014/main" id="{6C518DDD-4A2F-7FF4-38C3-82CE270292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>
            <a:extLst>
              <a:ext uri="{FF2B5EF4-FFF2-40B4-BE49-F238E27FC236}">
                <a16:creationId xmlns:a16="http://schemas.microsoft.com/office/drawing/2014/main" id="{F79CCD05-725A-36D5-D992-8D2607F8CDB4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4E647F-EB45-4488-99FE-DA9C63184A4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31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2AFD-0BD9-15EB-3FF5-E5F141C5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>
            <a:extLst>
              <a:ext uri="{FF2B5EF4-FFF2-40B4-BE49-F238E27FC236}">
                <a16:creationId xmlns:a16="http://schemas.microsoft.com/office/drawing/2014/main" id="{663C5490-0165-5CA4-0655-CE72C3149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>
            <a:extLst>
              <a:ext uri="{FF2B5EF4-FFF2-40B4-BE49-F238E27FC236}">
                <a16:creationId xmlns:a16="http://schemas.microsoft.com/office/drawing/2014/main" id="{B772C8C1-A5F9-9EED-AC7F-70D92165C2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>
            <a:extLst>
              <a:ext uri="{FF2B5EF4-FFF2-40B4-BE49-F238E27FC236}">
                <a16:creationId xmlns:a16="http://schemas.microsoft.com/office/drawing/2014/main" id="{88F47AC1-136F-C027-672E-03FE0DAFF857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4E647F-EB45-4488-99FE-DA9C63184A4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9196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F14BF9E-C656-401C-A21A-A3FC9FB7790F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914400" y="1371600"/>
            <a:ext cx="73148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1E2328"/>
                </a:solidFill>
                <a:latin typeface="Calibri"/>
                <a:ea typeface="Calibri"/>
              </a:rPr>
              <a:t>Graph-based Multi-view Object Counting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1E2328"/>
                </a:solidFill>
                <a:latin typeface="Calibri"/>
                <a:ea typeface="Calibri"/>
              </a:rPr>
              <a:t>via VGGT + SAM3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CCGS vs. Ours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2"/>
          <p:cNvSpPr/>
          <p:nvPr/>
        </p:nvSpPr>
        <p:spPr>
          <a:xfrm>
            <a:off x="457200" y="9144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B3A6B"/>
                </a:solidFill>
                <a:latin typeface="Calibri"/>
                <a:ea typeface="Calibri"/>
              </a:rPr>
              <a:t>CCGS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200" y="1280160"/>
            <a:ext cx="393156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2900" indent="-342900" defTabSz="914400">
              <a:lnSpc>
                <a:spcPct val="100000"/>
              </a:lnSpc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1E2328"/>
                </a:solidFill>
                <a:latin typeface="Calibri"/>
                <a:ea typeface="Calibri"/>
              </a:rPr>
              <a:t>Input: RGB images, instance masks, </a:t>
            </a:r>
            <a:r>
              <a:rPr lang="en-US" sz="1200" b="0" strike="noStrike" spc="-1" dirty="0" err="1">
                <a:solidFill>
                  <a:srgbClr val="1E2328"/>
                </a:solidFill>
                <a:latin typeface="Calibri"/>
                <a:ea typeface="Calibri"/>
              </a:rPr>
              <a:t>pointmaps</a:t>
            </a:r>
            <a:endParaRPr lang="en-US" sz="12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1E2328"/>
                </a:solidFill>
                <a:latin typeface="Calibri"/>
                <a:ea typeface="Calibri"/>
              </a:rPr>
              <a:t>For each adjacent image pair (t → t+1):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spc="-1" dirty="0">
              <a:solidFill>
                <a:schemeClr val="dk1"/>
              </a:solidFill>
              <a:latin typeface="Arial"/>
              <a:ea typeface="Calibri"/>
              <a:cs typeface="Arial"/>
            </a:endParaRPr>
          </a:p>
          <a:p>
            <a:endParaRPr lang="en-US" sz="1200" spc="-1" dirty="0">
              <a:solidFill>
                <a:schemeClr val="dk1"/>
              </a:solidFill>
              <a:latin typeface="Arial"/>
              <a:ea typeface="Calibri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For each pixel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i,j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in image t: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Find closest pixel in t+1 by minimizing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pointmap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 distance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>
              <a:buClr>
                <a:srgbClr val="000000"/>
              </a:buClr>
              <a:buFont typeface="Symbol" charset="2"/>
              <a:buChar char=""/>
            </a:pPr>
            <a:endParaRPr lang="en-US" sz="1200" spc="-1" dirty="0">
              <a:solidFill>
                <a:schemeClr val="dk1"/>
              </a:solidFill>
              <a:latin typeface="Calibri"/>
              <a:ea typeface="Calibri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→ correspondence mapping φ :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i,j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→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k,l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For instances a ∈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mask_t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  and  b ∈ mask_t+1: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Overlap = pixels of a whose φ lands inside b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Cost(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a,b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= 1 − overlap / min(|a|,|b|)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342900" lvl="1">
              <a:buClr>
                <a:srgbClr val="000000"/>
              </a:buClr>
            </a:pPr>
            <a:endParaRPr lang="en-US" sz="1200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1E2328"/>
                </a:solidFill>
                <a:latin typeface="Calibri"/>
                <a:ea typeface="Calibri"/>
              </a:rPr>
              <a:t>Hungarian algorithm → optimal 1-to-1 match</a:t>
            </a:r>
            <a:endParaRPr lang="en-US" sz="12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754880" y="9144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B3A6B"/>
                </a:solidFill>
                <a:latin typeface="Calibri"/>
                <a:ea typeface="Calibri"/>
              </a:rPr>
              <a:t>Ours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526280" y="914400"/>
            <a:ext cx="360" cy="393192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41400" y="1280160"/>
            <a:ext cx="393156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2900" indent="-342900"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1E2328"/>
                </a:solidFill>
                <a:latin typeface="Calibri"/>
                <a:ea typeface="Calibri"/>
              </a:rPr>
              <a:t>Input: RGB images, instance masks, </a:t>
            </a:r>
            <a:r>
              <a:rPr lang="en-US" sz="1200" spc="-1" dirty="0" err="1">
                <a:solidFill>
                  <a:srgbClr val="1E2328"/>
                </a:solidFill>
                <a:latin typeface="Calibri"/>
                <a:ea typeface="Calibri"/>
              </a:rPr>
              <a:t>pointmaps</a:t>
            </a:r>
            <a:br>
              <a:rPr sz="1200" dirty="0"/>
            </a:br>
            <a:r>
              <a:rPr lang="en-US" sz="1200" b="0" strike="noStrike" spc="-1" dirty="0">
                <a:solidFill>
                  <a:srgbClr val="1E2328"/>
                </a:solidFill>
                <a:latin typeface="Calibri"/>
                <a:ea typeface="Calibri"/>
              </a:rPr>
              <a:t>optional: VGGT confidence, camera poses</a:t>
            </a:r>
            <a:endParaRPr lang="en-US" sz="12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00B05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For each instance: generate Graph node (</a:t>
            </a:r>
            <a:r>
              <a:rPr lang="en-US" sz="1200" b="0" strike="noStrike" spc="-1" dirty="0" err="1">
                <a:solidFill>
                  <a:srgbClr val="00B050"/>
                </a:solidFill>
                <a:latin typeface="Calibri"/>
                <a:ea typeface="Calibri"/>
              </a:rPr>
              <a:t>image_index</a:t>
            </a:r>
            <a:r>
              <a:rPr lang="en-US" sz="12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, </a:t>
            </a:r>
            <a:r>
              <a:rPr lang="en-US" sz="1200" b="0" strike="noStrike" spc="-1" dirty="0" err="1">
                <a:solidFill>
                  <a:srgbClr val="00B050"/>
                </a:solidFill>
                <a:latin typeface="Calibri"/>
                <a:ea typeface="Calibri"/>
              </a:rPr>
              <a:t>instance_id</a:t>
            </a:r>
            <a:r>
              <a:rPr lang="en-US" sz="12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)</a:t>
            </a:r>
            <a:endParaRPr lang="en-US" sz="12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1E2328"/>
                </a:solidFill>
                <a:latin typeface="Calibri"/>
                <a:ea typeface="Calibri"/>
              </a:rPr>
              <a:t>For </a:t>
            </a:r>
            <a:r>
              <a:rPr lang="en-US" sz="1200" b="0" i="1" strike="noStrike" spc="-1">
                <a:solidFill>
                  <a:srgbClr val="00B050"/>
                </a:solidFill>
                <a:latin typeface="Calibri"/>
                <a:ea typeface="Calibri"/>
              </a:rPr>
              <a:t>all</a:t>
            </a:r>
            <a:r>
              <a:rPr lang="en-US" sz="1200" b="0" strike="noStrike" spc="-1">
                <a:solidFill>
                  <a:srgbClr val="1E2328"/>
                </a:solidFill>
                <a:latin typeface="Calibri"/>
                <a:ea typeface="Calibri"/>
              </a:rPr>
              <a:t> image pairs (t1 → t2</a:t>
            </a:r>
            <a:r>
              <a:rPr lang="en-US" sz="1200" spc="-1">
                <a:solidFill>
                  <a:srgbClr val="1E2328"/>
                </a:solidFill>
                <a:latin typeface="Calibri"/>
                <a:ea typeface="Calibri"/>
              </a:rPr>
              <a:t>):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>
              <a:buClr>
                <a:srgbClr val="00B050"/>
              </a:buClr>
              <a:buFont typeface="Symbol" charset="2"/>
              <a:buChar char=""/>
            </a:pPr>
            <a:r>
              <a:rPr lang="en-US" sz="1200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Optional: discard image pairs with large camera distance</a:t>
            </a:r>
            <a:endParaRPr lang="en-US" sz="1200" spc="-1" dirty="0">
              <a:solidFill>
                <a:srgbClr val="FF0000"/>
              </a:solidFill>
              <a:latin typeface="Calibri"/>
              <a:ea typeface="Calibri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B050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00B050"/>
                </a:solidFill>
                <a:latin typeface="Calibri"/>
                <a:ea typeface="Calibri"/>
              </a:rPr>
              <a:t>restrict to instance pixels (mask &gt; 0)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For each pixel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i,j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in image t1: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Find closest pixel in t2 by minimizing 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pointmap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 distance</a:t>
            </a:r>
            <a:endParaRPr lang="en-US" sz="12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>
              <a:buClr>
                <a:srgbClr val="000000"/>
              </a:buClr>
              <a:buFont typeface="Symbol" charset="2"/>
              <a:buChar char=""/>
            </a:pPr>
            <a:r>
              <a:rPr lang="en-US" sz="1200" spc="-1">
                <a:solidFill>
                  <a:srgbClr val="FF0000"/>
                </a:solidFill>
                <a:latin typeface="Calibri"/>
                <a:ea typeface="Calibri"/>
              </a:rPr>
              <a:t>Discard distant pixels</a:t>
            </a:r>
            <a:endParaRPr lang="en-US" sz="1200" spc="-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→ correspondence mapping φ :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i,j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→ 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k,l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For instances a ∈ mask_t1  and  b ∈ mask_t2: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Overlap = pixels of a whose φ lands inside b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685800" lvl="1" indent="-3429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Cost(</a:t>
            </a:r>
            <a:r>
              <a:rPr lang="en-US" sz="1200" b="0" strike="noStrike" spc="-1" dirty="0" err="1">
                <a:solidFill>
                  <a:schemeClr val="dk1"/>
                </a:solidFill>
                <a:latin typeface="Calibri"/>
                <a:ea typeface="Calibri"/>
              </a:rPr>
              <a:t>a,b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) = 1 − overlap / min(|a|,|b|)</a:t>
            </a:r>
            <a:endParaRPr lang="en-US" sz="12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685800" lvl="1" indent="-342900">
              <a:buClr>
                <a:srgbClr val="000000"/>
              </a:buClr>
              <a:buFont typeface="Symbol" charset="2"/>
              <a:buChar char=""/>
            </a:pPr>
            <a:r>
              <a:rPr lang="en-US" sz="1200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Discard low percentage matches</a:t>
            </a:r>
          </a:p>
          <a:p>
            <a:pPr marL="342900" indent="-342900" defTabSz="914400">
              <a:lnSpc>
                <a:spcPct val="100000"/>
              </a:lnSpc>
              <a:buClr>
                <a:srgbClr val="1E2328"/>
              </a:buClr>
              <a:buFont typeface="Symbol" charset="2"/>
              <a:buChar char=""/>
            </a:pPr>
            <a:r>
              <a:rPr lang="en-US" sz="1200" b="0" strike="noStrike" spc="-1" dirty="0">
                <a:solidFill>
                  <a:srgbClr val="1E2328"/>
                </a:solidFill>
                <a:latin typeface="Calibri"/>
                <a:ea typeface="Calibri"/>
              </a:rPr>
              <a:t>Hungarian algorithm → optimal 1-to-1 match</a:t>
            </a:r>
            <a:endParaRPr lang="en-US" sz="12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00B050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00B050"/>
                </a:solidFill>
                <a:latin typeface="Calibri"/>
                <a:ea typeface="Calibri"/>
              </a:rPr>
              <a:t>Add graph edge between matched instances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00B050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00B050"/>
                </a:solidFill>
                <a:latin typeface="Calibri"/>
                <a:ea typeface="Calibri"/>
              </a:rPr>
              <a:t>count connected components in the graph</a:t>
            </a:r>
            <a:br>
              <a:rPr sz="1200" dirty="0"/>
            </a:br>
            <a:r>
              <a:rPr lang="en-US" sz="1200" b="0" strike="noStrike" spc="-1">
                <a:solidFill>
                  <a:srgbClr val="00B050"/>
                </a:solidFill>
                <a:latin typeface="Calibri"/>
                <a:ea typeface="Calibri"/>
              </a:rPr>
              <a:t>→ each is one instance</a:t>
            </a:r>
            <a:endParaRPr lang="en-US" sz="12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3 input images + SAM3 instance masks  (prompt: "shoe")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36576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00001.png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36576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- 4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20040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00002.png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20040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- 5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0"/>
          <p:cNvSpPr/>
          <p:nvPr/>
        </p:nvSpPr>
        <p:spPr>
          <a:xfrm>
            <a:off x="603504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00008.png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2"/>
          <p:cNvSpPr/>
          <p:nvPr/>
        </p:nvSpPr>
        <p:spPr>
          <a:xfrm>
            <a:off x="603504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- 3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39"/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" name="Grafik 44"/>
          <p:cNvPicPr/>
          <p:nvPr/>
        </p:nvPicPr>
        <p:blipFill>
          <a:blip r:embed="rId3"/>
          <a:stretch/>
        </p:blipFill>
        <p:spPr>
          <a:xfrm>
            <a:off x="810720" y="115380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27" name="Grafik 46"/>
          <p:cNvPicPr/>
          <p:nvPr/>
        </p:nvPicPr>
        <p:blipFill>
          <a:blip r:embed="rId4"/>
          <a:stretch/>
        </p:blipFill>
        <p:spPr>
          <a:xfrm>
            <a:off x="3609000" y="117036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28" name="Grafik 48"/>
          <p:cNvPicPr/>
          <p:nvPr/>
        </p:nvPicPr>
        <p:blipFill>
          <a:blip r:embed="rId5"/>
          <a:stretch/>
        </p:blipFill>
        <p:spPr>
          <a:xfrm>
            <a:off x="6443640" y="114300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29" name="Grafik 50"/>
          <p:cNvPicPr/>
          <p:nvPr/>
        </p:nvPicPr>
        <p:blipFill>
          <a:blip r:embed="rId6"/>
          <a:stretch/>
        </p:blipFill>
        <p:spPr>
          <a:xfrm>
            <a:off x="810720" y="3063240"/>
            <a:ext cx="1688400" cy="1688400"/>
          </a:xfrm>
          <a:prstGeom prst="rect">
            <a:avLst/>
          </a:prstGeom>
          <a:ln w="0">
            <a:noFill/>
          </a:ln>
        </p:spPr>
      </p:pic>
      <p:pic>
        <p:nvPicPr>
          <p:cNvPr id="30" name="Grafik 52"/>
          <p:cNvPicPr/>
          <p:nvPr/>
        </p:nvPicPr>
        <p:blipFill>
          <a:blip r:embed="rId7"/>
          <a:stretch/>
        </p:blipFill>
        <p:spPr>
          <a:xfrm>
            <a:off x="3599640" y="3090600"/>
            <a:ext cx="1688400" cy="1688400"/>
          </a:xfrm>
          <a:prstGeom prst="rect">
            <a:avLst/>
          </a:prstGeom>
          <a:ln w="0">
            <a:noFill/>
          </a:ln>
        </p:spPr>
      </p:pic>
      <p:pic>
        <p:nvPicPr>
          <p:cNvPr id="31" name="Grafik 54"/>
          <p:cNvPicPr/>
          <p:nvPr/>
        </p:nvPicPr>
        <p:blipFill>
          <a:blip r:embed="rId8"/>
          <a:stretch/>
        </p:blipFill>
        <p:spPr>
          <a:xfrm>
            <a:off x="6490800" y="3102840"/>
            <a:ext cx="1648440" cy="1648440"/>
          </a:xfrm>
          <a:prstGeom prst="rect">
            <a:avLst/>
          </a:prstGeom>
          <a:ln w="0">
            <a:noFill/>
          </a:ln>
        </p:spPr>
      </p:pic>
      <p:sp>
        <p:nvSpPr>
          <p:cNvPr id="32" name="Text 12"/>
          <p:cNvSpPr/>
          <p:nvPr/>
        </p:nvSpPr>
        <p:spPr>
          <a:xfrm>
            <a:off x="2678040" y="339840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 2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For all instances: Generate graph nodes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36576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00001.png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36576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- 4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320040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00002.png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320040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- 5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603504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00008.png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603504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- 3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3" name="Grafik 44"/>
          <p:cNvPicPr/>
          <p:nvPr/>
        </p:nvPicPr>
        <p:blipFill>
          <a:blip r:embed="rId3"/>
          <a:stretch/>
        </p:blipFill>
        <p:spPr>
          <a:xfrm>
            <a:off x="810720" y="115380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44" name="Grafik 46"/>
          <p:cNvPicPr/>
          <p:nvPr/>
        </p:nvPicPr>
        <p:blipFill>
          <a:blip r:embed="rId4"/>
          <a:stretch/>
        </p:blipFill>
        <p:spPr>
          <a:xfrm>
            <a:off x="3609000" y="117036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45" name="Grafik 48"/>
          <p:cNvPicPr/>
          <p:nvPr/>
        </p:nvPicPr>
        <p:blipFill>
          <a:blip r:embed="rId5"/>
          <a:stretch/>
        </p:blipFill>
        <p:spPr>
          <a:xfrm>
            <a:off x="6443640" y="114300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46" name="Grafik 50"/>
          <p:cNvPicPr/>
          <p:nvPr/>
        </p:nvPicPr>
        <p:blipFill>
          <a:blip r:embed="rId6"/>
          <a:stretch/>
        </p:blipFill>
        <p:spPr>
          <a:xfrm>
            <a:off x="810720" y="3063240"/>
            <a:ext cx="1688400" cy="1688400"/>
          </a:xfrm>
          <a:prstGeom prst="rect">
            <a:avLst/>
          </a:prstGeom>
          <a:ln w="0">
            <a:noFill/>
          </a:ln>
        </p:spPr>
      </p:pic>
      <p:pic>
        <p:nvPicPr>
          <p:cNvPr id="47" name="Grafik 52"/>
          <p:cNvPicPr/>
          <p:nvPr/>
        </p:nvPicPr>
        <p:blipFill>
          <a:blip r:embed="rId7"/>
          <a:stretch/>
        </p:blipFill>
        <p:spPr>
          <a:xfrm>
            <a:off x="3599640" y="3090600"/>
            <a:ext cx="1688400" cy="1688400"/>
          </a:xfrm>
          <a:prstGeom prst="rect">
            <a:avLst/>
          </a:prstGeom>
          <a:ln w="0">
            <a:noFill/>
          </a:ln>
        </p:spPr>
      </p:pic>
      <p:pic>
        <p:nvPicPr>
          <p:cNvPr id="48" name="Grafik 54"/>
          <p:cNvPicPr/>
          <p:nvPr/>
        </p:nvPicPr>
        <p:blipFill>
          <a:blip r:embed="rId8"/>
          <a:stretch/>
        </p:blipFill>
        <p:spPr>
          <a:xfrm>
            <a:off x="6490800" y="3102840"/>
            <a:ext cx="1648440" cy="1648440"/>
          </a:xfrm>
          <a:prstGeom prst="rect">
            <a:avLst/>
          </a:prstGeom>
          <a:ln w="0">
            <a:noFill/>
          </a:ln>
        </p:spPr>
      </p:pic>
      <p:sp>
        <p:nvSpPr>
          <p:cNvPr id="49" name="Text 12"/>
          <p:cNvSpPr/>
          <p:nvPr/>
        </p:nvSpPr>
        <p:spPr>
          <a:xfrm>
            <a:off x="2678040" y="339840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1236960" y="372924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6"/>
          <p:cNvSpPr/>
          <p:nvPr/>
        </p:nvSpPr>
        <p:spPr>
          <a:xfrm>
            <a:off x="1236960" y="372924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1069560" y="331956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069560" y="331956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2013480" y="368244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6"/>
          <p:cNvSpPr/>
          <p:nvPr/>
        </p:nvSpPr>
        <p:spPr>
          <a:xfrm>
            <a:off x="2013480" y="368244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1807920" y="438300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807920" y="438300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4794480" y="418356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 9"/>
          <p:cNvSpPr/>
          <p:nvPr/>
        </p:nvSpPr>
        <p:spPr>
          <a:xfrm>
            <a:off x="4794480" y="418356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5142240" y="3891240"/>
            <a:ext cx="18288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142240" y="3891240"/>
            <a:ext cx="18288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982760" y="345528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Text 9"/>
          <p:cNvSpPr/>
          <p:nvPr/>
        </p:nvSpPr>
        <p:spPr>
          <a:xfrm>
            <a:off x="4982760" y="345528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372560" y="355068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372560" y="355068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3746160" y="407484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 9"/>
          <p:cNvSpPr/>
          <p:nvPr/>
        </p:nvSpPr>
        <p:spPr>
          <a:xfrm>
            <a:off x="3746160" y="407484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6671520" y="3633840"/>
            <a:ext cx="209880" cy="209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6671520" y="363384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7903440" y="3518280"/>
            <a:ext cx="209880" cy="209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7903440" y="351828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7008840" y="3188160"/>
            <a:ext cx="209880" cy="209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7008840" y="318816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For all image pairs: Compute instance matching cost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36576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00001.png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36576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- 4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3200400" y="2788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RGB: 00002.png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320040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4748B"/>
                </a:solidFill>
                <a:latin typeface="Calibri"/>
                <a:ea typeface="Calibri"/>
              </a:rPr>
              <a:t>SAM3 mask - 5 instances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2" name="Grafik 44"/>
          <p:cNvPicPr/>
          <p:nvPr/>
        </p:nvPicPr>
        <p:blipFill>
          <a:blip r:embed="rId3"/>
          <a:stretch/>
        </p:blipFill>
        <p:spPr>
          <a:xfrm>
            <a:off x="810720" y="115380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83" name="Grafik 46"/>
          <p:cNvPicPr/>
          <p:nvPr/>
        </p:nvPicPr>
        <p:blipFill>
          <a:blip r:embed="rId4"/>
          <a:stretch/>
        </p:blipFill>
        <p:spPr>
          <a:xfrm>
            <a:off x="3609000" y="1170360"/>
            <a:ext cx="1669680" cy="1669680"/>
          </a:xfrm>
          <a:prstGeom prst="rect">
            <a:avLst/>
          </a:prstGeom>
          <a:ln w="0">
            <a:noFill/>
          </a:ln>
        </p:spPr>
      </p:pic>
      <p:pic>
        <p:nvPicPr>
          <p:cNvPr id="84" name="Grafik 50"/>
          <p:cNvPicPr/>
          <p:nvPr/>
        </p:nvPicPr>
        <p:blipFill>
          <a:blip r:embed="rId5"/>
          <a:stretch/>
        </p:blipFill>
        <p:spPr>
          <a:xfrm>
            <a:off x="810720" y="3063240"/>
            <a:ext cx="1688400" cy="1688400"/>
          </a:xfrm>
          <a:prstGeom prst="rect">
            <a:avLst/>
          </a:prstGeom>
          <a:ln w="0">
            <a:noFill/>
          </a:ln>
        </p:spPr>
      </p:pic>
      <p:pic>
        <p:nvPicPr>
          <p:cNvPr id="85" name="Grafik 52"/>
          <p:cNvPicPr/>
          <p:nvPr/>
        </p:nvPicPr>
        <p:blipFill>
          <a:blip r:embed="rId6"/>
          <a:stretch/>
        </p:blipFill>
        <p:spPr>
          <a:xfrm>
            <a:off x="3599640" y="3090600"/>
            <a:ext cx="1688400" cy="1688400"/>
          </a:xfrm>
          <a:prstGeom prst="rect">
            <a:avLst/>
          </a:prstGeom>
          <a:ln w="0">
            <a:noFill/>
          </a:ln>
        </p:spPr>
      </p:pic>
      <p:sp>
        <p:nvSpPr>
          <p:cNvPr id="86" name="Text 12"/>
          <p:cNvSpPr/>
          <p:nvPr/>
        </p:nvSpPr>
        <p:spPr>
          <a:xfrm>
            <a:off x="2678040" y="3398400"/>
            <a:ext cx="2098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236960" y="372924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236960" y="372924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1069560" y="331956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 6"/>
          <p:cNvSpPr/>
          <p:nvPr/>
        </p:nvSpPr>
        <p:spPr>
          <a:xfrm>
            <a:off x="1069560" y="331956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2013480" y="368244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Text 6"/>
          <p:cNvSpPr/>
          <p:nvPr/>
        </p:nvSpPr>
        <p:spPr>
          <a:xfrm>
            <a:off x="2013480" y="368244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807920" y="4383000"/>
            <a:ext cx="204840" cy="209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807920" y="4383000"/>
            <a:ext cx="2048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4794480" y="418356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 9"/>
          <p:cNvSpPr/>
          <p:nvPr/>
        </p:nvSpPr>
        <p:spPr>
          <a:xfrm>
            <a:off x="4794480" y="418356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5142240" y="3891240"/>
            <a:ext cx="18288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Text 9"/>
          <p:cNvSpPr/>
          <p:nvPr/>
        </p:nvSpPr>
        <p:spPr>
          <a:xfrm>
            <a:off x="5142240" y="3891240"/>
            <a:ext cx="18288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4982760" y="345528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4982760" y="345528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4372560" y="355068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4372560" y="355068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3746160" y="4074840"/>
            <a:ext cx="215640" cy="217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746160" y="4074840"/>
            <a:ext cx="2156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" name="Tabelle 14"/>
          <p:cNvGraphicFramePr/>
          <p:nvPr/>
        </p:nvGraphicFramePr>
        <p:xfrm>
          <a:off x="5760720" y="1257120"/>
          <a:ext cx="2635200" cy="1965960"/>
        </p:xfrm>
        <a:graphic>
          <a:graphicData uri="http://schemas.openxmlformats.org/drawingml/2006/table">
            <a:tbl>
              <a:tblPr/>
              <a:tblGrid>
                <a:gridCol w="45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Img1/</a:t>
                      </a:r>
                      <a:br>
                        <a:rPr sz="900"/>
                      </a:b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4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5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inst. 4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95.8%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For all image pairs: Compute instance matching cost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9"/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10" name="Tabelle 14"/>
          <p:cNvGraphicFramePr/>
          <p:nvPr>
            <p:extLst>
              <p:ext uri="{D42A27DB-BD31-4B8C-83A1-F6EECF244321}">
                <p14:modId xmlns:p14="http://schemas.microsoft.com/office/powerpoint/2010/main" val="714809952"/>
              </p:ext>
            </p:extLst>
          </p:nvPr>
        </p:nvGraphicFramePr>
        <p:xfrm>
          <a:off x="459174" y="1252397"/>
          <a:ext cx="3253880" cy="1280160"/>
        </p:xfrm>
        <a:graphic>
          <a:graphicData uri="http://schemas.openxmlformats.org/drawingml/2006/table">
            <a:tbl>
              <a:tblPr/>
              <a:tblGrid>
                <a:gridCol w="560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70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Img1/</a:t>
                      </a:r>
                      <a:br>
                        <a:rPr sz="900" dirty="0"/>
                      </a:b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mg0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5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95.8%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1" name="Tabelle 15"/>
          <p:cNvGraphicFramePr/>
          <p:nvPr>
            <p:extLst>
              <p:ext uri="{D42A27DB-BD31-4B8C-83A1-F6EECF244321}">
                <p14:modId xmlns:p14="http://schemas.microsoft.com/office/powerpoint/2010/main" val="1707510756"/>
              </p:ext>
            </p:extLst>
          </p:nvPr>
        </p:nvGraphicFramePr>
        <p:xfrm>
          <a:off x="3803050" y="1251994"/>
          <a:ext cx="2353508" cy="1290720"/>
        </p:xfrm>
        <a:graphic>
          <a:graphicData uri="http://schemas.openxmlformats.org/drawingml/2006/table">
            <a:tbl>
              <a:tblPr/>
              <a:tblGrid>
                <a:gridCol w="58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84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Img0/Img2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Ints1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Itns2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95,4%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2" name="Tabelle 28"/>
          <p:cNvGraphicFramePr/>
          <p:nvPr>
            <p:extLst>
              <p:ext uri="{D42A27DB-BD31-4B8C-83A1-F6EECF244321}">
                <p14:modId xmlns:p14="http://schemas.microsoft.com/office/powerpoint/2010/main" val="665608976"/>
              </p:ext>
            </p:extLst>
          </p:nvPr>
        </p:nvGraphicFramePr>
        <p:xfrm>
          <a:off x="6245365" y="1251360"/>
          <a:ext cx="2060231" cy="1534335"/>
        </p:xfrm>
        <a:graphic>
          <a:graphicData uri="http://schemas.openxmlformats.org/drawingml/2006/table">
            <a:tbl>
              <a:tblPr/>
              <a:tblGrid>
                <a:gridCol w="51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61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Img1/Img2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85,2%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Inst5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92,9%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5B95B-812C-C237-5DFF-A8B753D3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>
            <a:extLst>
              <a:ext uri="{FF2B5EF4-FFF2-40B4-BE49-F238E27FC236}">
                <a16:creationId xmlns:a16="http://schemas.microsoft.com/office/drawing/2014/main" id="{4AC61666-8C32-C36D-B3EF-7E35A315FBEF}"/>
              </a:ext>
            </a:extLst>
          </p:cNvPr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">
            <a:extLst>
              <a:ext uri="{FF2B5EF4-FFF2-40B4-BE49-F238E27FC236}">
                <a16:creationId xmlns:a16="http://schemas.microsoft.com/office/drawing/2014/main" id="{B00A2F69-36D0-9970-8A42-C8C3544CFE8C}"/>
              </a:ext>
            </a:extLst>
          </p:cNvPr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2">
            <a:extLst>
              <a:ext uri="{FF2B5EF4-FFF2-40B4-BE49-F238E27FC236}">
                <a16:creationId xmlns:a16="http://schemas.microsoft.com/office/drawing/2014/main" id="{EC91918F-821B-6782-3A9F-7416FDFEB2DF}"/>
              </a:ext>
            </a:extLst>
          </p:cNvPr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300" b="0" i="1" strike="noStrike" spc="-1" dirty="0">
                <a:solidFill>
                  <a:srgbClr val="64748B"/>
                </a:solidFill>
                <a:latin typeface="Calibri"/>
                <a:ea typeface="Calibri"/>
              </a:rPr>
              <a:t>For all </a:t>
            </a:r>
            <a:r>
              <a:rPr lang="en-US" sz="1300" i="1" spc="-1" dirty="0">
                <a:solidFill>
                  <a:srgbClr val="64748B"/>
                </a:solidFill>
                <a:latin typeface="Calibri"/>
                <a:ea typeface="Calibri"/>
              </a:rPr>
              <a:t>instance pairs: Find optimal match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9">
            <a:extLst>
              <a:ext uri="{FF2B5EF4-FFF2-40B4-BE49-F238E27FC236}">
                <a16:creationId xmlns:a16="http://schemas.microsoft.com/office/drawing/2014/main" id="{3C0D4C29-AF04-07BF-684D-CA8D486D7CC7}"/>
              </a:ext>
            </a:extLst>
          </p:cNvPr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10" name="Tabelle 14">
            <a:extLst>
              <a:ext uri="{FF2B5EF4-FFF2-40B4-BE49-F238E27FC236}">
                <a16:creationId xmlns:a16="http://schemas.microsoft.com/office/drawing/2014/main" id="{859FE837-93C8-CB6A-FC7A-6EC1D6FB0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2613175"/>
              </p:ext>
            </p:extLst>
          </p:nvPr>
        </p:nvGraphicFramePr>
        <p:xfrm>
          <a:off x="459174" y="1252397"/>
          <a:ext cx="3253880" cy="1280160"/>
        </p:xfrm>
        <a:graphic>
          <a:graphicData uri="http://schemas.openxmlformats.org/drawingml/2006/table">
            <a:tbl>
              <a:tblPr/>
              <a:tblGrid>
                <a:gridCol w="560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70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Img1/</a:t>
                      </a:r>
                      <a:br>
                        <a:rPr sz="900" dirty="0"/>
                      </a:b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mg0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5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95.8%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1" name="Tabelle 15">
            <a:extLst>
              <a:ext uri="{FF2B5EF4-FFF2-40B4-BE49-F238E27FC236}">
                <a16:creationId xmlns:a16="http://schemas.microsoft.com/office/drawing/2014/main" id="{B46C3CC5-D7C3-D3D6-C2A8-D8C8462A9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20115"/>
              </p:ext>
            </p:extLst>
          </p:nvPr>
        </p:nvGraphicFramePr>
        <p:xfrm>
          <a:off x="3803050" y="1251994"/>
          <a:ext cx="2353508" cy="1290720"/>
        </p:xfrm>
        <a:graphic>
          <a:graphicData uri="http://schemas.openxmlformats.org/drawingml/2006/table">
            <a:tbl>
              <a:tblPr/>
              <a:tblGrid>
                <a:gridCol w="58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84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Img0/Img2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Ints1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Itns2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95,4%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2" name="Tabelle 28">
            <a:extLst>
              <a:ext uri="{FF2B5EF4-FFF2-40B4-BE49-F238E27FC236}">
                <a16:creationId xmlns:a16="http://schemas.microsoft.com/office/drawing/2014/main" id="{8F361EFC-A713-E8A3-2739-524DB2C454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4386537"/>
              </p:ext>
            </p:extLst>
          </p:nvPr>
        </p:nvGraphicFramePr>
        <p:xfrm>
          <a:off x="6245365" y="1251360"/>
          <a:ext cx="2060231" cy="1534335"/>
        </p:xfrm>
        <a:graphic>
          <a:graphicData uri="http://schemas.openxmlformats.org/drawingml/2006/table">
            <a:tbl>
              <a:tblPr/>
              <a:tblGrid>
                <a:gridCol w="51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61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Img1/Img2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85,2%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Inst5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92,9%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46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DBDE7-F573-CD1A-2A77-6EC0C91C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>
            <a:extLst>
              <a:ext uri="{FF2B5EF4-FFF2-40B4-BE49-F238E27FC236}">
                <a16:creationId xmlns:a16="http://schemas.microsoft.com/office/drawing/2014/main" id="{B8A5E1DC-A672-3F5B-DF8B-2FFF90179A19}"/>
              </a:ext>
            </a:extLst>
          </p:cNvPr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">
            <a:extLst>
              <a:ext uri="{FF2B5EF4-FFF2-40B4-BE49-F238E27FC236}">
                <a16:creationId xmlns:a16="http://schemas.microsoft.com/office/drawing/2014/main" id="{CD651D81-947F-5DCA-5A75-9F83DCF22040}"/>
              </a:ext>
            </a:extLst>
          </p:cNvPr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2">
            <a:extLst>
              <a:ext uri="{FF2B5EF4-FFF2-40B4-BE49-F238E27FC236}">
                <a16:creationId xmlns:a16="http://schemas.microsoft.com/office/drawing/2014/main" id="{B1000761-5CBC-2A3D-5D14-50F68A16350C}"/>
              </a:ext>
            </a:extLst>
          </p:cNvPr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300" i="1" spc="-1">
                <a:solidFill>
                  <a:srgbClr val="64748B"/>
                </a:solidFill>
                <a:latin typeface="Calibri"/>
                <a:ea typeface="Calibri"/>
              </a:rPr>
              <a:t>For all matching instances: Add edges to the graph</a:t>
            </a:r>
            <a:endParaRPr lang="de-DE"/>
          </a:p>
        </p:txBody>
      </p:sp>
      <p:graphicFrame>
        <p:nvGraphicFramePr>
          <p:cNvPr id="110" name="Tabelle 14">
            <a:extLst>
              <a:ext uri="{FF2B5EF4-FFF2-40B4-BE49-F238E27FC236}">
                <a16:creationId xmlns:a16="http://schemas.microsoft.com/office/drawing/2014/main" id="{D946728E-C4DC-51D0-1085-3A075FA9B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129654"/>
              </p:ext>
            </p:extLst>
          </p:nvPr>
        </p:nvGraphicFramePr>
        <p:xfrm>
          <a:off x="459174" y="1252397"/>
          <a:ext cx="3253880" cy="1280160"/>
        </p:xfrm>
        <a:graphic>
          <a:graphicData uri="http://schemas.openxmlformats.org/drawingml/2006/table">
            <a:tbl>
              <a:tblPr/>
              <a:tblGrid>
                <a:gridCol w="560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70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Img1/</a:t>
                      </a:r>
                      <a:br>
                        <a:rPr sz="900" dirty="0"/>
                      </a:b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mg0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5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1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2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3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9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 dirty="0" err="1">
                          <a:solidFill>
                            <a:schemeClr val="dk1"/>
                          </a:solidFill>
                          <a:latin typeface="Calibri (Textkörper)"/>
                        </a:rPr>
                        <a:t>inst</a:t>
                      </a:r>
                      <a:r>
                        <a:rPr lang="de-DE" sz="900" b="1" strike="noStrike" spc="-1" dirty="0">
                          <a:solidFill>
                            <a:schemeClr val="dk1"/>
                          </a:solidFill>
                          <a:latin typeface="Calibri (Textkörper)"/>
                        </a:rPr>
                        <a:t>. 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95.8%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 (Textkörper)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1" name="Tabelle 15">
            <a:extLst>
              <a:ext uri="{FF2B5EF4-FFF2-40B4-BE49-F238E27FC236}">
                <a16:creationId xmlns:a16="http://schemas.microsoft.com/office/drawing/2014/main" id="{29245267-4746-526E-457B-F36B548BBC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226568"/>
              </p:ext>
            </p:extLst>
          </p:nvPr>
        </p:nvGraphicFramePr>
        <p:xfrm>
          <a:off x="3803050" y="1251994"/>
          <a:ext cx="2353508" cy="1290720"/>
        </p:xfrm>
        <a:graphic>
          <a:graphicData uri="http://schemas.openxmlformats.org/drawingml/2006/table">
            <a:tbl>
              <a:tblPr/>
              <a:tblGrid>
                <a:gridCol w="58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84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Img0/Img2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Ints1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Itns2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95,4%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2" name="Tabelle 28">
            <a:extLst>
              <a:ext uri="{FF2B5EF4-FFF2-40B4-BE49-F238E27FC236}">
                <a16:creationId xmlns:a16="http://schemas.microsoft.com/office/drawing/2014/main" id="{1A06A364-EFAD-AE0E-30DF-11AE0B68F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63589"/>
              </p:ext>
            </p:extLst>
          </p:nvPr>
        </p:nvGraphicFramePr>
        <p:xfrm>
          <a:off x="6245365" y="1251360"/>
          <a:ext cx="2060231" cy="1534335"/>
        </p:xfrm>
        <a:graphic>
          <a:graphicData uri="http://schemas.openxmlformats.org/drawingml/2006/table">
            <a:tbl>
              <a:tblPr/>
              <a:tblGrid>
                <a:gridCol w="51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61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Img1/Img2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Inst1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100%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Inst2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85,2%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Inst3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Inst4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7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1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Inst5</a:t>
                      </a:r>
                      <a:endParaRPr lang="en-US" sz="9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92,9%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9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2" name="Grafik 7">
            <a:extLst>
              <a:ext uri="{FF2B5EF4-FFF2-40B4-BE49-F238E27FC236}">
                <a16:creationId xmlns:a16="http://schemas.microsoft.com/office/drawing/2014/main" id="{3386E7A5-B5C2-C7E6-0A50-84E343900B8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576468" y="2738053"/>
            <a:ext cx="4275928" cy="182234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5589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E2328"/>
                </a:solidFill>
                <a:latin typeface="Calibri"/>
                <a:ea typeface="Calibri"/>
              </a:rPr>
              <a:t>Walkthrough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457200" y="749520"/>
            <a:ext cx="82296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Count components: 3 connected components, 4 singletons </a:t>
            </a:r>
            <a:r>
              <a:rPr lang="en-US" sz="1300" b="0" i="1" strike="noStrike" spc="-1">
                <a:solidFill>
                  <a:srgbClr val="64748B"/>
                </a:solidFill>
                <a:latin typeface="Wingdings"/>
                <a:ea typeface="Calibri"/>
              </a:rPr>
              <a:t></a:t>
            </a:r>
            <a:r>
              <a:rPr lang="en-US" sz="1300" b="0" i="1" strike="noStrike" spc="-1">
                <a:solidFill>
                  <a:srgbClr val="64748B"/>
                </a:solidFill>
                <a:latin typeface="Calibri"/>
                <a:ea typeface="Calibri"/>
              </a:rPr>
              <a:t> 7 counted shoes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39"/>
          <p:cNvSpPr/>
          <p:nvPr/>
        </p:nvSpPr>
        <p:spPr>
          <a:xfrm>
            <a:off x="457200" y="4983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9" name="Grafik 7"/>
          <p:cNvPicPr/>
          <p:nvPr/>
        </p:nvPicPr>
        <p:blipFill>
          <a:blip r:embed="rId3"/>
          <a:stretch/>
        </p:blipFill>
        <p:spPr>
          <a:xfrm>
            <a:off x="386280" y="1170360"/>
            <a:ext cx="8229240" cy="3327120"/>
          </a:xfrm>
          <a:prstGeom prst="rect">
            <a:avLst/>
          </a:prstGeom>
          <a:ln w="0">
            <a:noFill/>
          </a:ln>
        </p:spPr>
      </p:pic>
      <p:sp>
        <p:nvSpPr>
          <p:cNvPr id="130" name="Ellipse 4"/>
          <p:cNvSpPr/>
          <p:nvPr/>
        </p:nvSpPr>
        <p:spPr>
          <a:xfrm>
            <a:off x="386280" y="1308600"/>
            <a:ext cx="669960" cy="671040"/>
          </a:xfrm>
          <a:prstGeom prst="ellipse">
            <a:avLst/>
          </a:prstGeom>
          <a:noFill/>
          <a:ln w="28575">
            <a:solidFill>
              <a:srgbClr val="E7E6E6">
                <a:lumMod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Ellipse 5"/>
          <p:cNvSpPr/>
          <p:nvPr/>
        </p:nvSpPr>
        <p:spPr>
          <a:xfrm>
            <a:off x="377280" y="2559960"/>
            <a:ext cx="669960" cy="67104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Ellipse 6"/>
          <p:cNvSpPr/>
          <p:nvPr/>
        </p:nvSpPr>
        <p:spPr>
          <a:xfrm>
            <a:off x="3888360" y="2525760"/>
            <a:ext cx="754200" cy="73908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Ellipse 8"/>
          <p:cNvSpPr/>
          <p:nvPr/>
        </p:nvSpPr>
        <p:spPr>
          <a:xfrm>
            <a:off x="386280" y="1974600"/>
            <a:ext cx="660960" cy="585000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Ellipse 9"/>
          <p:cNvSpPr/>
          <p:nvPr/>
        </p:nvSpPr>
        <p:spPr>
          <a:xfrm>
            <a:off x="7392240" y="1351440"/>
            <a:ext cx="660960" cy="585000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Ellipse 10"/>
          <p:cNvSpPr/>
          <p:nvPr/>
        </p:nvSpPr>
        <p:spPr>
          <a:xfrm>
            <a:off x="3910680" y="3862800"/>
            <a:ext cx="660960" cy="585000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Ellipse 11"/>
          <p:cNvSpPr/>
          <p:nvPr/>
        </p:nvSpPr>
        <p:spPr>
          <a:xfrm>
            <a:off x="3879360" y="1329120"/>
            <a:ext cx="660960" cy="67104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Ellipse 12"/>
          <p:cNvSpPr/>
          <p:nvPr/>
        </p:nvSpPr>
        <p:spPr>
          <a:xfrm>
            <a:off x="7392240" y="2593800"/>
            <a:ext cx="660960" cy="67104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Ellipse 14"/>
          <p:cNvSpPr/>
          <p:nvPr/>
        </p:nvSpPr>
        <p:spPr>
          <a:xfrm>
            <a:off x="386280" y="3193200"/>
            <a:ext cx="660960" cy="67104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Ellipse 15"/>
          <p:cNvSpPr/>
          <p:nvPr/>
        </p:nvSpPr>
        <p:spPr>
          <a:xfrm>
            <a:off x="3919320" y="3191760"/>
            <a:ext cx="669960" cy="671040"/>
          </a:xfrm>
          <a:prstGeom prst="ellipse">
            <a:avLst/>
          </a:prstGeom>
          <a:noFill/>
          <a:ln w="28575">
            <a:solidFill>
              <a:srgbClr val="E7E6E6">
                <a:lumMod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Ellipse 16"/>
          <p:cNvSpPr/>
          <p:nvPr/>
        </p:nvSpPr>
        <p:spPr>
          <a:xfrm>
            <a:off x="3901680" y="1942200"/>
            <a:ext cx="669960" cy="67104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Ellipse 18"/>
          <p:cNvSpPr/>
          <p:nvPr/>
        </p:nvSpPr>
        <p:spPr>
          <a:xfrm>
            <a:off x="7421760" y="1934640"/>
            <a:ext cx="669960" cy="67104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719</Words>
  <Application>Microsoft Office PowerPoint</Application>
  <PresentationFormat>Bildschirmpräsentation (16:9)</PresentationFormat>
  <Paragraphs>273</Paragraphs>
  <Slides>9</Slides>
  <Notes>9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Graph-based Multi-view Object Counting via VGGT + SAM3</dc:title>
  <dc:subject>PptxGenJS Presentation</dc:subject>
  <dc:creator>PptxGenJS</dc:creator>
  <dc:description/>
  <cp:lastModifiedBy/>
  <cp:revision>189</cp:revision>
  <dcterms:created xsi:type="dcterms:W3CDTF">2026-06-05T09:30:05Z</dcterms:created>
  <dcterms:modified xsi:type="dcterms:W3CDTF">2026-06-05T11:44:43Z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Bildschirmpräsentation (16:9)</vt:lpwstr>
  </property>
  <property fmtid="{D5CDD505-2E9C-101B-9397-08002B2CF9AE}" pid="4" name="Slides">
    <vt:i4>9</vt:i4>
  </property>
</Properties>
</file>